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thanks for making the time. Over the next half hour we will walk through the common errors we keep seeing in the Nectarbloom Prompt and Rubrics queue, and the simple fix for each one. The goal is not to catch anyone out. It is to help you get tasks accepted the first time, so you spend less time on rework.</a:t>
            </a:r>
          </a:p>
          <a:p/>
          <a:p>
            <a:r>
              <a:t>I have grouped everything into six stages, in the order you actually work: the account and reset, the opening prompt, the deliverables and GTFA, the rubric, the simplified run, and submission. At the end there is a short section on the newest issues reviewers are flagging.</a:t>
            </a:r>
          </a:p>
          <a:p/>
          <a:p>
            <a:r>
              <a:t>Please ask questions as we go, and if a mistake I describe today has happened to you, please say so out loud, because those real examples are the most useful part of a session like this. Let's start with the big picture.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picture on one slide. Every rejection traces back to one of these six stages, and each of the next slides takes one stage and lists the exact mistakes plus the fix.</a:t>
            </a:r>
          </a:p>
          <a:p/>
          <a:p>
            <a:r>
              <a:t>Two numbers should shape how you work. First, the single most common reason a task is sent back is an ungrounded entity: the prompt, outcome, or GTFA mentions a file, person, or date that does not exist in the account. The fix is simple. Open Gmail, Drive, and Calendar first, and confirm every name on screen. If it is not in the universe, it does not go in the task.</a:t>
            </a:r>
          </a:p>
          <a:p/>
          <a:p>
            <a:r>
              <a:t>Second, when reviewers looked at defective rubric criteria, two problems made up more than half of everything they found: 30% was wording two people could not grade the same way, and 26% actually punished the correct answer. We will come back to both, because fixing those two habits clears most rubric rejections.</a:t>
            </a:r>
          </a:p>
          <a:p/>
          <a:p>
            <a:r>
              <a:t>As we go, keep asking one question: would a careful stranger, holding only the prompt and the files, agree with what I wrote? If you remember nothing else today, remember those two numbers: confirm every name on screen, and write rubric lines a stranger could grade. Let's start with the account.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starts with the right account and a clean environment, and a surprising number of tasks fail before any real work begins.</a:t>
            </a:r>
          </a:p>
          <a:p/>
          <a:p>
            <a:r>
              <a:t>First, the account. Use only the demo account you claimed from the claim link. Not your personal Gmail, not your Outlier login, and not an account from another queue. Mixing accounts breaks the task and cannot be fixed afterwards.</a:t>
            </a:r>
          </a:p>
          <a:p/>
          <a:p>
            <a:r>
              <a:t>Second, the model. Select 3.8 Flash and set the Thinking level to Low. If the work is produced on the wrong model, it is simply not valid. And a newer issue we see a lot: it is not enough to select the model, you have to prove it. If the chat PDF says 'Created with Auto', or the screenshot is missing, or it was taken from an empty chat with no custom label, the reviewer cannot confirm the model and the task is rejected. Screenshot the selector before the run, with the model name clearly visible.</a:t>
            </a:r>
          </a:p>
          <a:p/>
          <a:p>
            <a:r>
              <a:t>Third, the reset, where timing matters. Reset before a run, never after one. If you do not reset before the simplified run, leftover files and drafts change the result. If you start before the green 'workspace is restored' message, you are running on a half-restored account. And if you reset after the run, you have just deleted the files you still needed to upload. Reset first, save your evidence second.</a:t>
            </a:r>
          </a:p>
          <a:p/>
          <a:p>
            <a:r>
              <a:t>If an option is missing or the account looks wrong for your locale, ask in the War Room before you claim a task. As a quick gauge, many of you have probably lost a task to a reset at the wrong moment at least once; the habit that prevents it is boringly simple, which is reset, wait for the green message, work, and only then save and upload. Let's go to the opening prompt.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opening prompt is the heart of the item, and it is deliberately incomplete. The gap between what the opener says and what it holds back is what makes your item hard. If you give everything away in the first message, a strong model one-shots it, and there is no 20+ turn conversation to evaluate.</a:t>
            </a:r>
          </a:p>
          <a:p/>
          <a:p>
            <a:r>
              <a:t>The first mistake is no ask at all. If the prompt only describes a situation, the model has nothing to do. Compare 'I have been buried in the Q3 vendor review all week', which is just a statement, with the same line plus 'can you help me work out which bids are solid before Friday'. Always include two or three loose asks.</a:t>
            </a:r>
          </a:p>
          <a:p/>
          <a:p>
            <a:r>
              <a:t>The opposite is asking for everything at once. 'Make a one-page PDF of my March expenses and email it to my manager' names the artifact, the format, and the action, so a strong model finishes it in one turn. Lead with the situation and the worry, and keep the detail for later.</a:t>
            </a:r>
          </a:p>
          <a:p/>
          <a:p>
            <a:r>
              <a:t>Next, the big one: the ungrounded entity. Every file, person, and date must exist in your universe, so confirm each on screen.</a:t>
            </a:r>
          </a:p>
          <a:p/>
          <a:p>
            <a:r>
              <a:t>Do not let an LLM write or polish the opener. Paste is disabled, and you attest the text is your own.</a:t>
            </a:r>
          </a:p>
          <a:p/>
          <a:p>
            <a:r>
              <a:t>Watch the language. Write natively in your assigned locale from the start. A fully English opener on a French or German item does not pass, and a translated scenario reads unnatural. Loanwords are fine, but you cannot fix it in translation later.</a:t>
            </a:r>
          </a:p>
          <a:p/>
          <a:p>
            <a:r>
              <a:t>And do not hide all the deliverables in the opener. The file, the numbers, the email belong in the Target Deliverables field, not the first message.</a:t>
            </a:r>
          </a:p>
          <a:p/>
          <a:p>
            <a:r>
              <a:t>One more opener trap is contrived or stacked constraints. If you pile on rigid, unrealistic rules, like exactly three tables, fifteen-minute blocks, or legally-binding wording that no real user would stack, the item reads as artificial. Use only constraints a real user would actually set, and keep the opener a loose, situation-first ask.</a:t>
            </a:r>
          </a:p>
          <a:p/>
          <a:p>
            <a:r>
              <a:t>There are worked examples, including tasks rated 5 out of 5 and 3 out of 5, at the exemplar link on the slide. One tip: if you are ever unsure whether an opener is too easy, try it once on 3.8 Flash yourself, and if a single reply basically finishes it, loosen it before you commit. Let's look at deliverables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outcome is your answer key, and you write it before you know how the model will behave. Work the task yourself first, then write down every element a fully successful run leaves behind. One rule keeps these clean: every entry must be something you can mark present or absent without a judgment call.</a:t>
            </a:r>
          </a:p>
          <a:p/>
          <a:p>
            <a:r>
              <a:t>The first mistake is a vague deliverable. 'The model should give a good vendor recommendation' cannot be checked. Write instead 'produces a one-page PDF naming the two selected vendors and their bid totals'.</a:t>
            </a:r>
          </a:p>
          <a:p/>
          <a:p>
            <a:r>
              <a:t>The second is writing the deliverable as a guess about the user, like 'the user might ask to fix the budget sheet'. You cannot grade a prediction. State the finished result: 'produces a corrected budget sheet with March totals'.</a:t>
            </a:r>
          </a:p>
          <a:p/>
          <a:p>
            <a:r>
              <a:t>Third, no values or absences. 'Prepare a reconciliation file' gives the rubric nothing to hold. Each deliverable should name the artifact, its exact values, any side effects like drafts or events, and what must be absent, such as out-of-scope data or a sent email.</a:t>
            </a:r>
          </a:p>
          <a:p/>
          <a:p>
            <a:r>
              <a:t>Fourth, a hard project rule: nothing should require sending or sharing. The model may create drafts, documents, and files, but it must never send an email or share a file. So write 'drafts an email that stays unsent'.</a:t>
            </a:r>
          </a:p>
          <a:p/>
          <a:p>
            <a:r>
              <a:t>And last, an item too thin for 20+ turns. If your honest turn estimate is under 20, add real work: a new artifact, a cross-source check, or a mid-task correction. Re-confirming or splitting one ask into two does not count.</a:t>
            </a:r>
          </a:p>
          <a:p/>
          <a:p>
            <a:r>
              <a:t>One more point that is sending items back: your item must have a unique ground truth. It should land on exactly one correct answer that you can derive from the sources, and it must actually ask for something concrete to be produced. If two qualified people could reasonably answer differently, if the result is subjective, or if your target outcome is written as a question with nothing to produce, tighten the item until there is a single correct final state.</a:t>
            </a:r>
          </a:p>
          <a:p/>
          <a:p>
            <a:r>
              <a:t>A good test for each entry is whether you could hand it to a colleague and have them rebuild the exact output without asking you a single question; if they would need to ask, add the missing value. With solid deliverables, the GTFA almost writes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GTFA is the ideal, factually correct completion of the task, with the real values filled in. The key point: anything missing from the GTFA cannot be graded later, so it has to be complete.</a:t>
            </a:r>
          </a:p>
          <a:p/>
          <a:p>
            <a:r>
              <a:t>First, leaving things out. If the GTFA does not cover one of the prompt's asks, that ask cannot be scored. Walk the prompt ask by ask and tick each one against the GTFA, covering deliverables, values, side effects, and absences.</a:t>
            </a:r>
          </a:p>
          <a:p/>
          <a:p>
            <a:r>
              <a:t>Second, a GTFA that contradicts the sources. Wrong amounts or dates, stale prices, or a figure that is in no file make every dependent grade wrong. Build a simple claim versus source table and check each fact against the files.</a:t>
            </a:r>
          </a:p>
          <a:p/>
          <a:p>
            <a:r>
              <a:t>Third, values with no source. If an email, date, or penalty exists only in your GTFA or the model's reply, and you cannot find it in or work it out from an uploaded file, leave it out.</a:t>
            </a:r>
          </a:p>
          <a:p/>
          <a:p>
            <a:r>
              <a:t>Fourth, the wrong method giving a plausible number. A naive split instead of the rolling window the source uses, or daylight saving applied in the wrong season, gives a number that looks right but is not. Recalculate with the source's own method and check time zones.</a:t>
            </a:r>
          </a:p>
          <a:p/>
          <a:p>
            <a:r>
              <a:t>Fifth, fields that disagree. If a value is in only one field, or the outcome says pay while the rubric says file, you have an inconsistency. Keep the opener, deliverables, rubric, GTFA, and Not Known all telling the same story.</a:t>
            </a:r>
          </a:p>
          <a:p/>
          <a:p>
            <a:r>
              <a:t>And Known versus Not Known. Known is only what the opener states. Not Known is what the user reveals later, in order and in their own voice, not vague topics and not the answers themselves. The claim versus source table sounds like extra work, but it takes two minutes and it is the best defence against a GTFA that quietly drifts from the files. Now the rubric.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rubric is where most review attention goes, so it is worth getting right. A rubric is just a list of checkable facts. Every criterion should be binary, observable, atomic, positive, product-independent, self-contained, and written in English, in the simple present tense starting with a verb like States, Includes, Reports, Provides, or Leaves. The only weights are +1, +2, and +3.</a:t>
            </a:r>
          </a:p>
          <a:p/>
          <a:p>
            <a:r>
              <a:t>Let's walk the common mistakes, each with a weak and a better version.</a:t>
            </a:r>
          </a:p>
          <a:p/>
          <a:p>
            <a:r>
              <a:t>First, not simple present tense. 'The response must calculate the net distribution' becomes 'Reports the net distribution as $7,626.60'. The better one carries the actual value.</a:t>
            </a:r>
          </a:p>
          <a:p/>
          <a:p>
            <a:r>
              <a:t>Second, vague or not self-contained. 'Has a professional tone' or 'calculates the correct tax return' force the grader to guess. Use something concrete, like 'opens with a greeting and closes with the sender's name', or 'reports the tax return as $1,000'.</a:t>
            </a:r>
          </a:p>
          <a:p/>
          <a:p>
            <a:r>
              <a:t>Third, not checkable. 'Calculates the net distribution' is not observable on its own, so state the number that should appear.</a:t>
            </a:r>
          </a:p>
          <a:p/>
          <a:p>
            <a:r>
              <a:t>Fourth, judging the process. 'Reasons carefully about the recipients' grades thinking you cannot see. Grade the result: 'addresses the email draft to the named recipient'.</a:t>
            </a:r>
          </a:p>
          <a:p/>
          <a:p>
            <a:r>
              <a:t>Fifth, negative framing. 'No message in Sent' passes even when the model did nothing. Write it positively: 'leaves an unsent draft addressed to the named recipient'.</a:t>
            </a:r>
          </a:p>
          <a:p/>
          <a:p>
            <a:r>
              <a:t>Sixth, accepting instructions instead of a file. 'Explains how to structure the spreadsheet' is not the same as producing one. Require the artifact: 'provides a spreadsheet file with one row per exhibit'.</a:t>
            </a:r>
          </a:p>
          <a:p/>
          <a:p>
            <a:r>
              <a:t>Seventh, and this was a top reason tasks came back this round: the rubric has to be written in English, even on a Japanese, Korean, or German task. Keep local names, dates, and currency exactly as they appear, but write every criterion, and every rating justification, in English, so any reviewer can read them.</a:t>
            </a:r>
          </a:p>
          <a:p/>
          <a:p>
            <a:r>
              <a:t>The two questions at the bottom are your filter for every line: would a perfect, honest response pass this, and would two people reading only the prompt agree on borderline work? If either answer is no, rewrite the line. A simple self-check is to read each line aloud and ask what exactly you would look at to mark it true or false; if you cannot point at the artifact or the transcript, the line is not observable yet. Next, coverage and weights.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the rubric as a whole. Aim for 10 to 30 criteria, each traceable to something the prompt actually asked for, and each tagged to one of the six Outcome Quality categories.</a:t>
            </a:r>
          </a:p>
          <a:p/>
          <a:p>
            <a:r>
              <a:t>On coverage, four things. Do not punish the right answer by requiring something the user later ruled out; a perfect, honest response must be able to pass. Do not grade something nobody asked for; if a criterion does not trace to an explicit or implied ask, remove it. Do not miss the critical checks, like whether the draft was left unsent, who the recipient is, or that nothing was filed. And make sure every exact value traces back to a file, the GTFA, or the deliverables.</a:t>
            </a:r>
          </a:p>
          <a:p/>
          <a:p>
            <a:r>
              <a:t>On weights and categories, avoid flat or inflated weights. If most of your criteria are +3, the weighting stops telling essential from nice to have. Use +3 only when failing that one line alone leaves the user's goal incomplete. Split bundled criteria that chain things with 'and', and merge true duplicates. Spread criteria across all six categories instead of clustering in one. And do not grade things that are not outcomes, like reasoning, turn count, or conversational style.</a:t>
            </a:r>
          </a:p>
          <a:p/>
          <a:p>
            <a:r>
              <a:t>The best habit here is the looks-correct-but-wrong test. Picture an output with all the right numbers, but where the draft was actually sent. If your rubric would still pass it, add the criterion that catches it. When you are done, sort your criteria by weight and read them top to bottom; if a +1 is obviously more important than a +2 above it, one of those weights is wrong. Now the simplified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simplified run is a complexity test of your item, not an evaluation of the model. You give the model the easiest path, all the deliverables in one to three turns, and check that it still fails most of your rubric. And you grade only what was actually produced.</a:t>
            </a:r>
          </a:p>
          <a:p/>
          <a:p>
            <a:r>
              <a:t>An invalid run repeats the opener, uses an old chat, adds follow-up nudges, has no share link, or was done before the prompt was final. Any of those voids the score. Use a fresh chat on a reset account, ask for every deliverable in one go, save a public share link, and do not steer.</a:t>
            </a:r>
          </a:p>
          <a:p/>
          <a:p>
            <a:r>
              <a:t>If the item passes more than 40%, do not touch the rubric to force the number down. Harden the item with real traps from the files.</a:t>
            </a:r>
          </a:p>
          <a:p/>
          <a:p>
            <a:r>
              <a:t>Not resetting first makes the result meaningless, so reset before each run.</a:t>
            </a:r>
          </a:p>
          <a:p/>
          <a:p>
            <a:r>
              <a:t>Then there is passing work the model never produced. If the model only described a draft or file in the chat but never created it, that is a claim, not an artifact, and it should fail. Grade only what was delivered.</a:t>
            </a:r>
          </a:p>
          <a:p/>
          <a:p>
            <a:r>
              <a:t>Watch for contradictory ratings, where a parent fails but a child passes. A child cannot pass when its parent failed. Do not fail content the output plainly satisfies, and never leave a rating without a reason: one line of evidence, a quote or what is missing.</a:t>
            </a:r>
          </a:p>
          <a:p/>
          <a:p>
            <a:r>
              <a:t>The percentage is weighted, so failing one +3 moves the number far more than a +1. If you are over the gate, fix the item, not the measurement. The honest way to grade is to re-read the output line by line and quote the evidence for each rating, rather than grading from memory of what you think the model did. Let's look at the newest issues.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new, and it covers what reviewers have started flagging most recently. Some of these are not ordinary mistakes; they are integrity problems, and they go on the disable list rather than the rework pile, so please read them carefully.</a:t>
            </a:r>
          </a:p>
          <a:p/>
          <a:p>
            <a:r>
              <a:t>First, broken runs. Sometimes the model cannot reach the account, or it uses another persona's account, or it invents data like 'Alpha' and 'Beta' or '[domaine]' placeholders, or it tells the user to do the work themselves. None of those are usable. Re-run on a clean, correct account, and make sure every entity comes from the universe.</a:t>
            </a:r>
          </a:p>
          <a:p/>
          <a:p>
            <a:r>
              <a:t>Second, and this is a big one right now: evidence that is not from this run. We are seeing input files that are actually the model's own output, a turn record that is really the model's reply instead of the prompt you sent, and chat PDFs, screenshots, or even a GTFA copied from a different chat. Everything you file has to come from this one linked run: the turns are the exact prompts you sent, the inputs are genuine source files, and the PDF, screenshots, and GTFA all match this chat.</a:t>
            </a:r>
          </a:p>
          <a:p/>
          <a:p>
            <a:r>
              <a:t>Third, passing the gate only on paper, and there is a firm rule here now: if the simplified run, graded honestly, scores above 40%, the item is too easy and goes back to be hardened. We never re-rate, cut, or reweight criteria to get under the line. We are seeing items filed under 40% that come out between 41% and 93% when regraded honestly, often because visible draft or calendar cards were marked Fail just because they look like placeholders in the chat PDF. Grade those cards from the share page, where their content is visible, and harden the item rather than grading it down.</a:t>
            </a:r>
          </a:p>
          <a:p/>
          <a:p>
            <a:r>
              <a:t>And fourth, the serious one: integrity violations. Fabricating a figure so a total matches. Marking your self-check as full while the automated check still lists gaps. Flipping grades to hold the gate. Editing turn one without re-running. Please never do any of these. Fix the work, not the number. I want to be direct about this last group: these are not pace or polish issues, they are trust issues, and they affect whether we can keep sending you work, so when in doubt, flag it rather than paper over it. Now,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done. The work is only graded if a reviewer can open and verify it, and these four mistakes can sink an otherwise good task.</a:t>
            </a:r>
          </a:p>
          <a:p/>
          <a:p>
            <a:r>
              <a:t>First, outputs not preserved. If the reply names a file but it was never uploaded, or an uploaded document is empty apart from its title, the rating cannot be checked. Upload every file the reply names, with its full content.</a:t>
            </a:r>
          </a:p>
          <a:p/>
          <a:p>
            <a:r>
              <a:t>Second, the browser address-bar link. That link is private to your session, so a reviewer cannot open it. Always use the product's Share feature, and save a link after every turn.</a:t>
            </a:r>
          </a:p>
          <a:p/>
          <a:p>
            <a:r>
              <a:t>Third, deleting a chat. This one is final: deleting a chat kills every share link in the task and fails it. Never delete; just start a new chat per task.</a:t>
            </a:r>
          </a:p>
          <a:p/>
          <a:p>
            <a:r>
              <a:t>Fourth, resubmitting without addressing the feedback. If only the run or the wording changed while the listed fixes stayed open, you get the same send-back again. Work through the feedback item by item, and tick each one off before you resubmit.</a:t>
            </a:r>
          </a:p>
          <a:p/>
          <a:p>
            <a:r>
              <a:t>None of these are hard to avoid; they are just easy to forget when you are rushing at the end. Slow down for the last two minutes of each task. A useful habit is to open your own share link in a private browser window before you submit, because if it does not open cleanly there, it will not open for the reviewer either. Let's finish with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keep next to you. Before you submit, re-read your own task as if you were a stranger seeing it for the first time, and ask four questions. Could a model finish it in one reply? If so, it is too easy. Is every name real, something you can see in Gmail, Drive, or Calendar? Does each rubric line have one clear pass or fail answer? And does anything depend on a draft being sent, which is never allowed?</a:t>
            </a:r>
          </a:p>
          <a:p/>
          <a:p>
            <a:r>
              <a:t>On the right are the checks that fail a task outright, no matter how good the rest is: an ungrounded entity, an LLM-written opener, a deleted chat or an address-bar link, a named file with no matching upload, and a PDF that contradicts the live share page. If any are true, fix it before you submit.</a:t>
            </a:r>
          </a:p>
          <a:p/>
          <a:p>
            <a:r>
              <a:t>And when in doubt, ask in the War Room before you run, not after. A wrong account, model, or universe cannot be undone once the run has started, and a quick question is always cheaper than a rejected task. Take ten seconds on each of these before you hit submit, and most send-backs simply never happen.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everything. If you take away three things today, let them be these: ground every entity in the real account, write rubric lines that two people would grade the same way, and never change the evidence or the grades to make a task look better than it is. Do those, and most of your tasks will pass the first time.</a:t>
            </a:r>
          </a:p>
          <a:p/>
          <a:p>
            <a:r>
              <a:t>Thank you for your attention and for the care you put into these items; it genuinely makes the evaluations better. I will stay on for questions, and anything that comes up later, please drop it in the War Room. If it is helpful, I can share these slides along with the speaker notes afterwards, so you have them to refer back 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640080"/>
            <a:ext cx="1371600" cy="137160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38560" y="2286000"/>
            <a:ext cx="822960" cy="82296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92640" y="5120640"/>
            <a:ext cx="1097280" cy="109728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828800"/>
            <a:ext cx="9144000" cy="274320"/>
          </a:xfrm>
          <a:prstGeom prst="rect">
            <a:avLst/>
          </a:prstGeom>
          <a:noFill/>
        </p:spPr>
        <p:txBody>
          <a:bodyPr wrap="square" anchor="t" lIns="0" rIns="0" tIns="0" bIns="0">
            <a:spAutoFit/>
          </a:bodyPr>
          <a:lstStyle/>
          <a:p>
            <a:pPr algn="l">
              <a:lnSpc>
                <a:spcPct val="100000"/>
              </a:lnSpc>
              <a:spcBef>
                <a:spcPts val="0"/>
              </a:spcBef>
              <a:spcAft>
                <a:spcPts val="300"/>
              </a:spcAft>
            </a:pPr>
            <a:r>
              <a:rPr sz="1300" b="1" i="0">
                <a:solidFill>
                  <a:srgbClr val="C9A227"/>
                </a:solidFill>
                <a:latin typeface="Calibri"/>
              </a:rPr>
              <a:t>NECTARBLOOM · PROMPT AND RUBRICS (QUEUE 1)</a:t>
            </a:r>
          </a:p>
        </p:txBody>
      </p:sp>
      <p:sp>
        <p:nvSpPr>
          <p:cNvPr id="7" name="TextBox 6"/>
          <p:cNvSpPr txBox="1"/>
          <p:nvPr/>
        </p:nvSpPr>
        <p:spPr>
          <a:xfrm>
            <a:off x="566928" y="2286000"/>
            <a:ext cx="10515600" cy="1371600"/>
          </a:xfrm>
          <a:prstGeom prst="rect">
            <a:avLst/>
          </a:prstGeom>
          <a:noFill/>
        </p:spPr>
        <p:txBody>
          <a:bodyPr wrap="square" anchor="t" lIns="0" rIns="0" tIns="0" bIns="0">
            <a:spAutoFit/>
          </a:bodyPr>
          <a:lstStyle/>
          <a:p>
            <a:pPr algn="l">
              <a:lnSpc>
                <a:spcPct val="100000"/>
              </a:lnSpc>
              <a:spcBef>
                <a:spcPts val="0"/>
              </a:spcBef>
              <a:spcAft>
                <a:spcPts val="300"/>
              </a:spcAft>
            </a:pPr>
            <a:r>
              <a:rPr sz="6000" b="1" i="0">
                <a:solidFill>
                  <a:srgbClr val="FFFFFF"/>
                </a:solidFill>
                <a:latin typeface="Cambria"/>
              </a:rPr>
              <a:t>Common Errors</a:t>
            </a:r>
          </a:p>
        </p:txBody>
      </p:sp>
      <p:sp>
        <p:nvSpPr>
          <p:cNvPr id="8" name="TextBox 7"/>
          <p:cNvSpPr txBox="1"/>
          <p:nvPr/>
        </p:nvSpPr>
        <p:spPr>
          <a:xfrm>
            <a:off x="566928" y="3611880"/>
            <a:ext cx="10058400" cy="822960"/>
          </a:xfrm>
          <a:prstGeom prst="rect">
            <a:avLst/>
          </a:prstGeom>
          <a:noFill/>
        </p:spPr>
        <p:txBody>
          <a:bodyPr wrap="square" anchor="t" lIns="0" rIns="0" tIns="0" bIns="0">
            <a:spAutoFit/>
          </a:bodyPr>
          <a:lstStyle/>
          <a:p>
            <a:pPr algn="l">
              <a:lnSpc>
                <a:spcPct val="100000"/>
              </a:lnSpc>
              <a:spcBef>
                <a:spcPts val="0"/>
              </a:spcBef>
              <a:spcAft>
                <a:spcPts val="300"/>
              </a:spcAft>
            </a:pPr>
            <a:r>
              <a:rPr sz="2100" b="0" i="0">
                <a:solidFill>
                  <a:srgbClr val="ECE2D0"/>
                </a:solidFill>
                <a:latin typeface="Cambria"/>
              </a:rPr>
              <a:t>The mistakes that get tasks sent back, and the simple fix for each</a:t>
            </a:r>
          </a:p>
        </p:txBody>
      </p:sp>
      <p:sp>
        <p:nvSpPr>
          <p:cNvPr id="9" name="Rectangle 8"/>
          <p:cNvSpPr/>
          <p:nvPr/>
        </p:nvSpPr>
        <p:spPr>
          <a:xfrm>
            <a:off x="566928" y="4526280"/>
            <a:ext cx="100584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800600"/>
            <a:ext cx="10058400" cy="822960"/>
          </a:xfrm>
          <a:prstGeom prst="rect">
            <a:avLst/>
          </a:prstGeom>
          <a:noFill/>
        </p:spPr>
        <p:txBody>
          <a:bodyPr wrap="square" anchor="t" lIns="0" rIns="0" tIns="0" bIns="0">
            <a:spAutoFit/>
          </a:bodyPr>
          <a:lstStyle/>
          <a:p>
            <a:pPr algn="l">
              <a:lnSpc>
                <a:spcPct val="100000"/>
              </a:lnSpc>
              <a:spcBef>
                <a:spcPts val="0"/>
              </a:spcBef>
              <a:spcAft>
                <a:spcPts val="300"/>
              </a:spcAft>
            </a:pPr>
            <a:r>
              <a:rPr sz="1400" b="1" i="0">
                <a:solidFill>
                  <a:srgbClr val="ECE2D0"/>
                </a:solidFill>
                <a:latin typeface="Calibri"/>
              </a:rPr>
              <a:t>Six places tasks get sent back:  Account &amp; reset  →  Opening prompt  →  Deliverables &amp; GTFA  →  Rubric criteria  →  Simplified run  →  Submission</a:t>
            </a:r>
          </a:p>
        </p:txBody>
      </p:sp>
      <p:sp>
        <p:nvSpPr>
          <p:cNvPr id="11" name="TextBox 10"/>
          <p:cNvSpPr txBox="1"/>
          <p:nvPr/>
        </p:nvSpPr>
        <p:spPr>
          <a:xfrm>
            <a:off x="566928" y="6172200"/>
            <a:ext cx="10058400" cy="274320"/>
          </a:xfrm>
          <a:prstGeom prst="rect">
            <a:avLst/>
          </a:prstGeom>
          <a:noFill/>
        </p:spPr>
        <p:txBody>
          <a:bodyPr wrap="square" anchor="t" lIns="0" rIns="0" tIns="0" bIns="0">
            <a:spAutoFit/>
          </a:bodyPr>
          <a:lstStyle/>
          <a:p>
            <a:pPr algn="l">
              <a:lnSpc>
                <a:spcPct val="100000"/>
              </a:lnSpc>
              <a:spcBef>
                <a:spcPts val="0"/>
              </a:spcBef>
              <a:spcAft>
                <a:spcPts val="300"/>
              </a:spcAft>
            </a:pPr>
            <a:r>
              <a:rPr sz="1150" b="0" i="0">
                <a:solidFill>
                  <a:srgbClr val="ECE2D0"/>
                </a:solidFill>
                <a:latin typeface="Calibri"/>
              </a:rPr>
              <a:t>Read it before you submit.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A26769"/>
                </a:solidFill>
                <a:latin typeface="Calibri"/>
              </a:rPr>
              <a:t>OVERVIEW · WHERE TASKS GET SENT BACK</a:t>
            </a:r>
          </a:p>
        </p:txBody>
      </p:sp>
      <p:sp>
        <p:nvSpPr>
          <p:cNvPr id="4" name="TextBox 3"/>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6D2E46"/>
                </a:solidFill>
                <a:latin typeface="Cambria"/>
              </a:rPr>
              <a:t>Six places tasks get sent back</a:t>
            </a:r>
          </a:p>
        </p:txBody>
      </p:sp>
      <p:sp>
        <p:nvSpPr>
          <p:cNvPr id="5" name="TextBox 4"/>
          <p:cNvSpPr txBox="1"/>
          <p:nvPr/>
        </p:nvSpPr>
        <p:spPr>
          <a:xfrm>
            <a:off x="566928" y="1426464"/>
            <a:ext cx="110642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i="0">
                <a:solidFill>
                  <a:srgbClr val="6B6064"/>
                </a:solidFill>
                <a:latin typeface="Calibri"/>
              </a:rPr>
              <a:t>Every rejection in this queue traces to one of six stages. Each slide that follows lists the specific errors, and the fix for each.</a:t>
            </a:r>
          </a:p>
        </p:txBody>
      </p:sp>
      <p:sp>
        <p:nvSpPr>
          <p:cNvPr id="6" name="Rounded Rectangle 5"/>
          <p:cNvSpPr/>
          <p:nvPr/>
        </p:nvSpPr>
        <p:spPr>
          <a:xfrm>
            <a:off x="566928" y="1938528"/>
            <a:ext cx="3529584" cy="1371600"/>
          </a:xfrm>
          <a:prstGeom prst="round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2" y="2176272"/>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212848"/>
            <a:ext cx="457200" cy="384048"/>
          </a:xfrm>
          <a:prstGeom prst="rect">
            <a:avLst/>
          </a:prstGeom>
          <a:noFill/>
        </p:spPr>
        <p:txBody>
          <a:bodyPr wrap="square" anchor="ctr" lIns="0" rIns="0" tIns="0" bIns="0">
            <a:spAutoFit/>
          </a:bodyPr>
          <a:lstStyle/>
          <a:p>
            <a:pPr algn="ctr">
              <a:lnSpc>
                <a:spcPct val="100000"/>
              </a:lnSpc>
              <a:spcBef>
                <a:spcPts val="0"/>
              </a:spcBef>
              <a:spcAft>
                <a:spcPts val="300"/>
              </a:spcAft>
            </a:pPr>
            <a:r>
              <a:rPr sz="1500" b="1" i="0">
                <a:solidFill>
                  <a:srgbClr val="FFFFFF"/>
                </a:solidFill>
                <a:latin typeface="Cambria"/>
              </a:rPr>
              <a:t>1</a:t>
            </a:r>
          </a:p>
        </p:txBody>
      </p:sp>
      <p:sp>
        <p:nvSpPr>
          <p:cNvPr id="9" name="TextBox 8"/>
          <p:cNvSpPr txBox="1"/>
          <p:nvPr/>
        </p:nvSpPr>
        <p:spPr>
          <a:xfrm>
            <a:off x="1408176" y="2176272"/>
            <a:ext cx="2523744" cy="365760"/>
          </a:xfrm>
          <a:prstGeom prst="rect">
            <a:avLst/>
          </a:prstGeom>
          <a:noFill/>
        </p:spPr>
        <p:txBody>
          <a:bodyPr wrap="square" anchor="t" lIns="0" rIns="0" tIns="0" bIns="0">
            <a:spAutoFit/>
          </a:bodyPr>
          <a:lstStyle/>
          <a:p>
            <a:pPr algn="l">
              <a:lnSpc>
                <a:spcPct val="100000"/>
              </a:lnSpc>
              <a:spcBef>
                <a:spcPts val="0"/>
              </a:spcBef>
              <a:spcAft>
                <a:spcPts val="300"/>
              </a:spcAft>
            </a:pPr>
            <a:r>
              <a:rPr sz="1450" b="1" i="0">
                <a:solidFill>
                  <a:srgbClr val="6D2E46"/>
                </a:solidFill>
                <a:latin typeface="Cambria"/>
              </a:rPr>
              <a:t>Account &amp; reset</a:t>
            </a:r>
          </a:p>
        </p:txBody>
      </p:sp>
      <p:sp>
        <p:nvSpPr>
          <p:cNvPr id="10" name="TextBox 9"/>
          <p:cNvSpPr txBox="1"/>
          <p:nvPr/>
        </p:nvSpPr>
        <p:spPr>
          <a:xfrm>
            <a:off x="841248" y="2651760"/>
            <a:ext cx="3017520" cy="566928"/>
          </a:xfrm>
          <a:prstGeom prst="rect">
            <a:avLst/>
          </a:prstGeom>
          <a:noFill/>
        </p:spPr>
        <p:txBody>
          <a:bodyPr wrap="square" anchor="t" lIns="0" rIns="0" tIns="0" bIns="0">
            <a:spAutoFit/>
          </a:bodyPr>
          <a:lstStyle/>
          <a:p>
            <a:pPr algn="l">
              <a:lnSpc>
                <a:spcPct val="102000"/>
              </a:lnSpc>
              <a:spcBef>
                <a:spcPts val="0"/>
              </a:spcBef>
              <a:spcAft>
                <a:spcPts val="300"/>
              </a:spcAft>
            </a:pPr>
            <a:r>
              <a:rPr sz="1100" b="0" i="0">
                <a:solidFill>
                  <a:srgbClr val="2B2126"/>
                </a:solidFill>
                <a:latin typeface="Calibri"/>
              </a:rPr>
              <a:t>Right account, right model, reset before every run.</a:t>
            </a:r>
          </a:p>
        </p:txBody>
      </p:sp>
      <p:sp>
        <p:nvSpPr>
          <p:cNvPr id="11" name="Rounded Rectangle 10"/>
          <p:cNvSpPr/>
          <p:nvPr/>
        </p:nvSpPr>
        <p:spPr>
          <a:xfrm>
            <a:off x="4334256" y="1938528"/>
            <a:ext cx="3529584" cy="1371600"/>
          </a:xfrm>
          <a:prstGeom prst="round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0" y="2176272"/>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212848"/>
            <a:ext cx="457200" cy="384048"/>
          </a:xfrm>
          <a:prstGeom prst="rect">
            <a:avLst/>
          </a:prstGeom>
          <a:noFill/>
        </p:spPr>
        <p:txBody>
          <a:bodyPr wrap="square" anchor="ctr" lIns="0" rIns="0" tIns="0" bIns="0">
            <a:spAutoFit/>
          </a:bodyPr>
          <a:lstStyle/>
          <a:p>
            <a:pPr algn="ctr">
              <a:lnSpc>
                <a:spcPct val="100000"/>
              </a:lnSpc>
              <a:spcBef>
                <a:spcPts val="0"/>
              </a:spcBef>
              <a:spcAft>
                <a:spcPts val="300"/>
              </a:spcAft>
            </a:pPr>
            <a:r>
              <a:rPr sz="1500" b="1" i="0">
                <a:solidFill>
                  <a:srgbClr val="FFFFFF"/>
                </a:solidFill>
                <a:latin typeface="Cambria"/>
              </a:rPr>
              <a:t>2</a:t>
            </a:r>
          </a:p>
        </p:txBody>
      </p:sp>
      <p:sp>
        <p:nvSpPr>
          <p:cNvPr id="14" name="TextBox 13"/>
          <p:cNvSpPr txBox="1"/>
          <p:nvPr/>
        </p:nvSpPr>
        <p:spPr>
          <a:xfrm>
            <a:off x="5175504" y="2176272"/>
            <a:ext cx="2523744" cy="365760"/>
          </a:xfrm>
          <a:prstGeom prst="rect">
            <a:avLst/>
          </a:prstGeom>
          <a:noFill/>
        </p:spPr>
        <p:txBody>
          <a:bodyPr wrap="square" anchor="t" lIns="0" rIns="0" tIns="0" bIns="0">
            <a:spAutoFit/>
          </a:bodyPr>
          <a:lstStyle/>
          <a:p>
            <a:pPr algn="l">
              <a:lnSpc>
                <a:spcPct val="100000"/>
              </a:lnSpc>
              <a:spcBef>
                <a:spcPts val="0"/>
              </a:spcBef>
              <a:spcAft>
                <a:spcPts val="300"/>
              </a:spcAft>
            </a:pPr>
            <a:r>
              <a:rPr sz="1450" b="1" i="0">
                <a:solidFill>
                  <a:srgbClr val="6D2E46"/>
                </a:solidFill>
                <a:latin typeface="Cambria"/>
              </a:rPr>
              <a:t>Opening prompt</a:t>
            </a:r>
          </a:p>
        </p:txBody>
      </p:sp>
      <p:sp>
        <p:nvSpPr>
          <p:cNvPr id="15" name="TextBox 14"/>
          <p:cNvSpPr txBox="1"/>
          <p:nvPr/>
        </p:nvSpPr>
        <p:spPr>
          <a:xfrm>
            <a:off x="4608576" y="2651760"/>
            <a:ext cx="3017520" cy="566928"/>
          </a:xfrm>
          <a:prstGeom prst="rect">
            <a:avLst/>
          </a:prstGeom>
          <a:noFill/>
        </p:spPr>
        <p:txBody>
          <a:bodyPr wrap="square" anchor="t" lIns="0" rIns="0" tIns="0" bIns="0">
            <a:spAutoFit/>
          </a:bodyPr>
          <a:lstStyle/>
          <a:p>
            <a:pPr algn="l">
              <a:lnSpc>
                <a:spcPct val="102000"/>
              </a:lnSpc>
              <a:spcBef>
                <a:spcPts val="0"/>
              </a:spcBef>
              <a:spcAft>
                <a:spcPts val="300"/>
              </a:spcAft>
            </a:pPr>
            <a:r>
              <a:rPr sz="1100" b="0" i="0">
                <a:solidFill>
                  <a:srgbClr val="2B2126"/>
                </a:solidFill>
                <a:latin typeface="Calibri"/>
              </a:rPr>
              <a:t>2–3 loose asks, grounded, human-written, never one-shot.</a:t>
            </a:r>
          </a:p>
        </p:txBody>
      </p:sp>
      <p:sp>
        <p:nvSpPr>
          <p:cNvPr id="16" name="Rounded Rectangle 15"/>
          <p:cNvSpPr/>
          <p:nvPr/>
        </p:nvSpPr>
        <p:spPr>
          <a:xfrm>
            <a:off x="8101584" y="1938528"/>
            <a:ext cx="3529584" cy="1371600"/>
          </a:xfrm>
          <a:prstGeom prst="round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39328" y="2176272"/>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2212848"/>
            <a:ext cx="457200" cy="384048"/>
          </a:xfrm>
          <a:prstGeom prst="rect">
            <a:avLst/>
          </a:prstGeom>
          <a:noFill/>
        </p:spPr>
        <p:txBody>
          <a:bodyPr wrap="square" anchor="ctr" lIns="0" rIns="0" tIns="0" bIns="0">
            <a:spAutoFit/>
          </a:bodyPr>
          <a:lstStyle/>
          <a:p>
            <a:pPr algn="ctr">
              <a:lnSpc>
                <a:spcPct val="100000"/>
              </a:lnSpc>
              <a:spcBef>
                <a:spcPts val="0"/>
              </a:spcBef>
              <a:spcAft>
                <a:spcPts val="300"/>
              </a:spcAft>
            </a:pPr>
            <a:r>
              <a:rPr sz="1500" b="1" i="0">
                <a:solidFill>
                  <a:srgbClr val="FFFFFF"/>
                </a:solidFill>
                <a:latin typeface="Cambria"/>
              </a:rPr>
              <a:t>3</a:t>
            </a:r>
          </a:p>
        </p:txBody>
      </p:sp>
      <p:sp>
        <p:nvSpPr>
          <p:cNvPr id="19" name="TextBox 18"/>
          <p:cNvSpPr txBox="1"/>
          <p:nvPr/>
        </p:nvSpPr>
        <p:spPr>
          <a:xfrm>
            <a:off x="8942832" y="2176272"/>
            <a:ext cx="2523744" cy="365760"/>
          </a:xfrm>
          <a:prstGeom prst="rect">
            <a:avLst/>
          </a:prstGeom>
          <a:noFill/>
        </p:spPr>
        <p:txBody>
          <a:bodyPr wrap="square" anchor="t" lIns="0" rIns="0" tIns="0" bIns="0">
            <a:spAutoFit/>
          </a:bodyPr>
          <a:lstStyle/>
          <a:p>
            <a:pPr algn="l">
              <a:lnSpc>
                <a:spcPct val="100000"/>
              </a:lnSpc>
              <a:spcBef>
                <a:spcPts val="0"/>
              </a:spcBef>
              <a:spcAft>
                <a:spcPts val="300"/>
              </a:spcAft>
            </a:pPr>
            <a:r>
              <a:rPr sz="1450" b="1" i="0">
                <a:solidFill>
                  <a:srgbClr val="6D2E46"/>
                </a:solidFill>
                <a:latin typeface="Cambria"/>
              </a:rPr>
              <a:t>Deliverables &amp; GTFA</a:t>
            </a:r>
          </a:p>
        </p:txBody>
      </p:sp>
      <p:sp>
        <p:nvSpPr>
          <p:cNvPr id="20" name="TextBox 19"/>
          <p:cNvSpPr txBox="1"/>
          <p:nvPr/>
        </p:nvSpPr>
        <p:spPr>
          <a:xfrm>
            <a:off x="8375904" y="2651760"/>
            <a:ext cx="3017520" cy="566928"/>
          </a:xfrm>
          <a:prstGeom prst="rect">
            <a:avLst/>
          </a:prstGeom>
          <a:noFill/>
        </p:spPr>
        <p:txBody>
          <a:bodyPr wrap="square" anchor="t" lIns="0" rIns="0" tIns="0" bIns="0">
            <a:spAutoFit/>
          </a:bodyPr>
          <a:lstStyle/>
          <a:p>
            <a:pPr algn="l">
              <a:lnSpc>
                <a:spcPct val="102000"/>
              </a:lnSpc>
              <a:spcBef>
                <a:spcPts val="0"/>
              </a:spcBef>
              <a:spcAft>
                <a:spcPts val="300"/>
              </a:spcAft>
            </a:pPr>
            <a:r>
              <a:rPr sz="1100" b="0" i="0">
                <a:solidFill>
                  <a:srgbClr val="2B2126"/>
                </a:solidFill>
                <a:latin typeface="Calibri"/>
              </a:rPr>
              <a:t>Name artifacts, values, side effects and absences, all traceable.</a:t>
            </a:r>
          </a:p>
        </p:txBody>
      </p:sp>
      <p:sp>
        <p:nvSpPr>
          <p:cNvPr id="21" name="Rounded Rectangle 20"/>
          <p:cNvSpPr/>
          <p:nvPr/>
        </p:nvSpPr>
        <p:spPr>
          <a:xfrm>
            <a:off x="566928" y="3529584"/>
            <a:ext cx="3529584" cy="1371600"/>
          </a:xfrm>
          <a:prstGeom prst="round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3767328"/>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803904"/>
            <a:ext cx="457200" cy="384048"/>
          </a:xfrm>
          <a:prstGeom prst="rect">
            <a:avLst/>
          </a:prstGeom>
          <a:noFill/>
        </p:spPr>
        <p:txBody>
          <a:bodyPr wrap="square" anchor="ctr" lIns="0" rIns="0" tIns="0" bIns="0">
            <a:spAutoFit/>
          </a:bodyPr>
          <a:lstStyle/>
          <a:p>
            <a:pPr algn="ctr">
              <a:lnSpc>
                <a:spcPct val="100000"/>
              </a:lnSpc>
              <a:spcBef>
                <a:spcPts val="0"/>
              </a:spcBef>
              <a:spcAft>
                <a:spcPts val="300"/>
              </a:spcAft>
            </a:pPr>
            <a:r>
              <a:rPr sz="1500" b="1" i="0">
                <a:solidFill>
                  <a:srgbClr val="FFFFFF"/>
                </a:solidFill>
                <a:latin typeface="Cambria"/>
              </a:rPr>
              <a:t>4</a:t>
            </a:r>
          </a:p>
        </p:txBody>
      </p:sp>
      <p:sp>
        <p:nvSpPr>
          <p:cNvPr id="24" name="TextBox 23"/>
          <p:cNvSpPr txBox="1"/>
          <p:nvPr/>
        </p:nvSpPr>
        <p:spPr>
          <a:xfrm>
            <a:off x="1408176" y="3767328"/>
            <a:ext cx="2523744" cy="365760"/>
          </a:xfrm>
          <a:prstGeom prst="rect">
            <a:avLst/>
          </a:prstGeom>
          <a:noFill/>
        </p:spPr>
        <p:txBody>
          <a:bodyPr wrap="square" anchor="t" lIns="0" rIns="0" tIns="0" bIns="0">
            <a:spAutoFit/>
          </a:bodyPr>
          <a:lstStyle/>
          <a:p>
            <a:pPr algn="l">
              <a:lnSpc>
                <a:spcPct val="100000"/>
              </a:lnSpc>
              <a:spcBef>
                <a:spcPts val="0"/>
              </a:spcBef>
              <a:spcAft>
                <a:spcPts val="300"/>
              </a:spcAft>
            </a:pPr>
            <a:r>
              <a:rPr sz="1450" b="1" i="0">
                <a:solidFill>
                  <a:srgbClr val="6D2E46"/>
                </a:solidFill>
                <a:latin typeface="Cambria"/>
              </a:rPr>
              <a:t>Rubric criteria</a:t>
            </a:r>
          </a:p>
        </p:txBody>
      </p:sp>
      <p:sp>
        <p:nvSpPr>
          <p:cNvPr id="25" name="TextBox 24"/>
          <p:cNvSpPr txBox="1"/>
          <p:nvPr/>
        </p:nvSpPr>
        <p:spPr>
          <a:xfrm>
            <a:off x="841248" y="4242816"/>
            <a:ext cx="3017520" cy="566928"/>
          </a:xfrm>
          <a:prstGeom prst="rect">
            <a:avLst/>
          </a:prstGeom>
          <a:noFill/>
        </p:spPr>
        <p:txBody>
          <a:bodyPr wrap="square" anchor="t" lIns="0" rIns="0" tIns="0" bIns="0">
            <a:spAutoFit/>
          </a:bodyPr>
          <a:lstStyle/>
          <a:p>
            <a:pPr algn="l">
              <a:lnSpc>
                <a:spcPct val="102000"/>
              </a:lnSpc>
              <a:spcBef>
                <a:spcPts val="0"/>
              </a:spcBef>
              <a:spcAft>
                <a:spcPts val="300"/>
              </a:spcAft>
            </a:pPr>
            <a:r>
              <a:rPr sz="1100" b="0" i="0">
                <a:solidFill>
                  <a:srgbClr val="2B2126"/>
                </a:solidFill>
                <a:latin typeface="Calibri"/>
              </a:rPr>
              <a:t>Binary, observable, atomic, positive, self-contained.</a:t>
            </a:r>
          </a:p>
        </p:txBody>
      </p:sp>
      <p:sp>
        <p:nvSpPr>
          <p:cNvPr id="26" name="Rounded Rectangle 25"/>
          <p:cNvSpPr/>
          <p:nvPr/>
        </p:nvSpPr>
        <p:spPr>
          <a:xfrm>
            <a:off x="4334256" y="3529584"/>
            <a:ext cx="3529584" cy="1371600"/>
          </a:xfrm>
          <a:prstGeom prst="round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72000" y="3767328"/>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3803904"/>
            <a:ext cx="457200" cy="384048"/>
          </a:xfrm>
          <a:prstGeom prst="rect">
            <a:avLst/>
          </a:prstGeom>
          <a:noFill/>
        </p:spPr>
        <p:txBody>
          <a:bodyPr wrap="square" anchor="ctr" lIns="0" rIns="0" tIns="0" bIns="0">
            <a:spAutoFit/>
          </a:bodyPr>
          <a:lstStyle/>
          <a:p>
            <a:pPr algn="ctr">
              <a:lnSpc>
                <a:spcPct val="100000"/>
              </a:lnSpc>
              <a:spcBef>
                <a:spcPts val="0"/>
              </a:spcBef>
              <a:spcAft>
                <a:spcPts val="300"/>
              </a:spcAft>
            </a:pPr>
            <a:r>
              <a:rPr sz="1500" b="1" i="0">
                <a:solidFill>
                  <a:srgbClr val="FFFFFF"/>
                </a:solidFill>
                <a:latin typeface="Cambria"/>
              </a:rPr>
              <a:t>5</a:t>
            </a:r>
          </a:p>
        </p:txBody>
      </p:sp>
      <p:sp>
        <p:nvSpPr>
          <p:cNvPr id="29" name="TextBox 28"/>
          <p:cNvSpPr txBox="1"/>
          <p:nvPr/>
        </p:nvSpPr>
        <p:spPr>
          <a:xfrm>
            <a:off x="5175504" y="3767328"/>
            <a:ext cx="2523744" cy="365760"/>
          </a:xfrm>
          <a:prstGeom prst="rect">
            <a:avLst/>
          </a:prstGeom>
          <a:noFill/>
        </p:spPr>
        <p:txBody>
          <a:bodyPr wrap="square" anchor="t" lIns="0" rIns="0" tIns="0" bIns="0">
            <a:spAutoFit/>
          </a:bodyPr>
          <a:lstStyle/>
          <a:p>
            <a:pPr algn="l">
              <a:lnSpc>
                <a:spcPct val="100000"/>
              </a:lnSpc>
              <a:spcBef>
                <a:spcPts val="0"/>
              </a:spcBef>
              <a:spcAft>
                <a:spcPts val="300"/>
              </a:spcAft>
            </a:pPr>
            <a:r>
              <a:rPr sz="1450" b="1" i="0">
                <a:solidFill>
                  <a:srgbClr val="6D2E46"/>
                </a:solidFill>
                <a:latin typeface="Cambria"/>
              </a:rPr>
              <a:t>Simplified run</a:t>
            </a:r>
          </a:p>
        </p:txBody>
      </p:sp>
      <p:sp>
        <p:nvSpPr>
          <p:cNvPr id="30" name="TextBox 29"/>
          <p:cNvSpPr txBox="1"/>
          <p:nvPr/>
        </p:nvSpPr>
        <p:spPr>
          <a:xfrm>
            <a:off x="4608576" y="4242816"/>
            <a:ext cx="3017520" cy="566928"/>
          </a:xfrm>
          <a:prstGeom prst="rect">
            <a:avLst/>
          </a:prstGeom>
          <a:noFill/>
        </p:spPr>
        <p:txBody>
          <a:bodyPr wrap="square" anchor="t" lIns="0" rIns="0" tIns="0" bIns="0">
            <a:spAutoFit/>
          </a:bodyPr>
          <a:lstStyle/>
          <a:p>
            <a:pPr algn="l">
              <a:lnSpc>
                <a:spcPct val="102000"/>
              </a:lnSpc>
              <a:spcBef>
                <a:spcPts val="0"/>
              </a:spcBef>
              <a:spcAft>
                <a:spcPts val="300"/>
              </a:spcAft>
            </a:pPr>
            <a:r>
              <a:rPr sz="1100" b="0" i="0">
                <a:solidFill>
                  <a:srgbClr val="2B2126"/>
                </a:solidFill>
                <a:latin typeface="Calibri"/>
              </a:rPr>
              <a:t>A fresh, unsteered 1–3 turn run that passes ≤ 40%.</a:t>
            </a:r>
          </a:p>
        </p:txBody>
      </p:sp>
      <p:sp>
        <p:nvSpPr>
          <p:cNvPr id="31" name="Rounded Rectangle 30"/>
          <p:cNvSpPr/>
          <p:nvPr/>
        </p:nvSpPr>
        <p:spPr>
          <a:xfrm>
            <a:off x="8101584" y="3529584"/>
            <a:ext cx="3529584" cy="1371600"/>
          </a:xfrm>
          <a:prstGeom prst="round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339328" y="3767328"/>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9328" y="3803904"/>
            <a:ext cx="457200" cy="384048"/>
          </a:xfrm>
          <a:prstGeom prst="rect">
            <a:avLst/>
          </a:prstGeom>
          <a:noFill/>
        </p:spPr>
        <p:txBody>
          <a:bodyPr wrap="square" anchor="ctr" lIns="0" rIns="0" tIns="0" bIns="0">
            <a:spAutoFit/>
          </a:bodyPr>
          <a:lstStyle/>
          <a:p>
            <a:pPr algn="ctr">
              <a:lnSpc>
                <a:spcPct val="100000"/>
              </a:lnSpc>
              <a:spcBef>
                <a:spcPts val="0"/>
              </a:spcBef>
              <a:spcAft>
                <a:spcPts val="300"/>
              </a:spcAft>
            </a:pPr>
            <a:r>
              <a:rPr sz="1500" b="1" i="0">
                <a:solidFill>
                  <a:srgbClr val="FFFFFF"/>
                </a:solidFill>
                <a:latin typeface="Cambria"/>
              </a:rPr>
              <a:t>6</a:t>
            </a:r>
          </a:p>
        </p:txBody>
      </p:sp>
      <p:sp>
        <p:nvSpPr>
          <p:cNvPr id="34" name="TextBox 33"/>
          <p:cNvSpPr txBox="1"/>
          <p:nvPr/>
        </p:nvSpPr>
        <p:spPr>
          <a:xfrm>
            <a:off x="8942832" y="3767328"/>
            <a:ext cx="2523744" cy="365760"/>
          </a:xfrm>
          <a:prstGeom prst="rect">
            <a:avLst/>
          </a:prstGeom>
          <a:noFill/>
        </p:spPr>
        <p:txBody>
          <a:bodyPr wrap="square" anchor="t" lIns="0" rIns="0" tIns="0" bIns="0">
            <a:spAutoFit/>
          </a:bodyPr>
          <a:lstStyle/>
          <a:p>
            <a:pPr algn="l">
              <a:lnSpc>
                <a:spcPct val="100000"/>
              </a:lnSpc>
              <a:spcBef>
                <a:spcPts val="0"/>
              </a:spcBef>
              <a:spcAft>
                <a:spcPts val="300"/>
              </a:spcAft>
            </a:pPr>
            <a:r>
              <a:rPr sz="1450" b="1" i="0">
                <a:solidFill>
                  <a:srgbClr val="6D2E46"/>
                </a:solidFill>
                <a:latin typeface="Cambria"/>
              </a:rPr>
              <a:t>Submission &amp; process</a:t>
            </a:r>
          </a:p>
        </p:txBody>
      </p:sp>
      <p:sp>
        <p:nvSpPr>
          <p:cNvPr id="35" name="TextBox 34"/>
          <p:cNvSpPr txBox="1"/>
          <p:nvPr/>
        </p:nvSpPr>
        <p:spPr>
          <a:xfrm>
            <a:off x="8375904" y="4242816"/>
            <a:ext cx="3017520" cy="566928"/>
          </a:xfrm>
          <a:prstGeom prst="rect">
            <a:avLst/>
          </a:prstGeom>
          <a:noFill/>
        </p:spPr>
        <p:txBody>
          <a:bodyPr wrap="square" anchor="t" lIns="0" rIns="0" tIns="0" bIns="0">
            <a:spAutoFit/>
          </a:bodyPr>
          <a:lstStyle/>
          <a:p>
            <a:pPr algn="l">
              <a:lnSpc>
                <a:spcPct val="102000"/>
              </a:lnSpc>
              <a:spcBef>
                <a:spcPts val="0"/>
              </a:spcBef>
              <a:spcAft>
                <a:spcPts val="300"/>
              </a:spcAft>
            </a:pPr>
            <a:r>
              <a:rPr sz="1100" b="0" i="0">
                <a:solidFill>
                  <a:srgbClr val="2B2126"/>
                </a:solidFill>
                <a:latin typeface="Calibri"/>
              </a:rPr>
              <a:t>Preserve outputs, use Share links, never delete a chat.</a:t>
            </a:r>
          </a:p>
        </p:txBody>
      </p:sp>
      <p:sp>
        <p:nvSpPr>
          <p:cNvPr id="36" name="Rounded Rectangle 35"/>
          <p:cNvSpPr/>
          <p:nvPr/>
        </p:nvSpPr>
        <p:spPr>
          <a:xfrm>
            <a:off x="566928" y="5486400"/>
            <a:ext cx="11064240" cy="932688"/>
          </a:xfrm>
          <a:prstGeom prst="roundRect">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6968" y="5641848"/>
            <a:ext cx="10424160" cy="658368"/>
          </a:xfrm>
          <a:prstGeom prst="rect">
            <a:avLst/>
          </a:prstGeom>
          <a:noFill/>
        </p:spPr>
        <p:txBody>
          <a:bodyPr wrap="square" anchor="ctr" lIns="0" rIns="0" tIns="0" bIns="0">
            <a:spAutoFit/>
          </a:bodyPr>
          <a:lstStyle/>
          <a:p>
            <a:pPr algn="l">
              <a:lnSpc>
                <a:spcPct val="103000"/>
              </a:lnSpc>
              <a:spcBef>
                <a:spcPts val="0"/>
              </a:spcBef>
              <a:spcAft>
                <a:spcPts val="300"/>
              </a:spcAft>
            </a:pPr>
            <a:r>
              <a:rPr sz="1250" b="1" i="0">
                <a:solidFill>
                  <a:srgbClr val="6D2E46"/>
                </a:solidFill>
                <a:latin typeface="Calibri"/>
              </a:rPr>
              <a:t>The single most common rejection:  </a:t>
            </a:r>
            <a:r>
              <a:rPr sz="1250" b="0" i="0">
                <a:solidFill>
                  <a:srgbClr val="6D2E46"/>
                </a:solidFill>
                <a:latin typeface="Calibri"/>
              </a:rPr>
              <a:t>an ungrounded entity: a file, person or date that is not in the universe. Open Gmail, Drive and Calendar first and confirm every name on screen. Where rubrics fail: 30% unjudgeable wording · 26% punish the right answer, over half of all defects.</a:t>
            </a:r>
          </a:p>
        </p:txBody>
      </p:sp>
      <p:sp>
        <p:nvSpPr>
          <p:cNvPr id="38" name="TextBox 37"/>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6B606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A26769"/>
                </a:solidFill>
                <a:latin typeface="Calibri"/>
              </a:rPr>
              <a:t>SECTION 1 · DEMO ACCOUNT &amp; RESET</a:t>
            </a:r>
          </a:p>
        </p:txBody>
      </p:sp>
      <p:sp>
        <p:nvSpPr>
          <p:cNvPr id="4" name="TextBox 3"/>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6D2E46"/>
                </a:solidFill>
                <a:latin typeface="Cambria"/>
              </a:rPr>
              <a:t>Use the claimed account and reset at the right time</a:t>
            </a:r>
          </a:p>
        </p:txBody>
      </p:sp>
      <p:sp>
        <p:nvSpPr>
          <p:cNvPr id="5" name="TextBox 4"/>
          <p:cNvSpPr txBox="1"/>
          <p:nvPr/>
        </p:nvSpPr>
        <p:spPr>
          <a:xfrm>
            <a:off x="566928" y="1426464"/>
            <a:ext cx="110642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i="0">
                <a:solidFill>
                  <a:srgbClr val="6B6064"/>
                </a:solidFill>
                <a:latin typeface="Calibri"/>
              </a:rPr>
              <a:t>Claim your demo account at app.outlier.ai/demo-account-claim and use only that account. Reach out to the QMs in the War Room if it doesn't work.</a:t>
            </a:r>
          </a:p>
        </p:txBody>
      </p:sp>
      <p:graphicFrame>
        <p:nvGraphicFramePr>
          <p:cNvPr id="6" name="Table 5"/>
          <p:cNvGraphicFramePr>
            <a:graphicFrameLocks noGrp="1"/>
          </p:cNvGraphicFramePr>
          <p:nvPr/>
        </p:nvGraphicFramePr>
        <p:xfrm>
          <a:off x="566928" y="1865376"/>
          <a:ext cx="11064240" cy="3456432"/>
        </p:xfrm>
        <a:graphic>
          <a:graphicData uri="http://schemas.openxmlformats.org/drawingml/2006/table">
            <a:tbl>
              <a:tblPr>
                <a:tableStyleId>{2D5ABB26-0587-4C30-8999-92F81FD0307C}</a:tableStyleId>
              </a:tblPr>
              <a:tblGrid>
                <a:gridCol w="2788920"/>
                <a:gridCol w="4069080"/>
                <a:gridCol w="4206240"/>
              </a:tblGrid>
              <a:tr h="384048">
                <a:tc>
                  <a:txBody>
                    <a:bodyPr wrap="square"/>
                    <a:lstStyle/>
                    <a:p>
                      <a:pPr algn="l">
                        <a:lnSpc>
                          <a:spcPct val="100000"/>
                        </a:lnSpc>
                        <a:spcBef>
                          <a:spcPts val="0"/>
                        </a:spcBef>
                        <a:spcAft>
                          <a:spcPts val="100"/>
                        </a:spcAft>
                      </a:pPr>
                      <a:r>
                        <a:rPr sz="1050" b="1" i="0">
                          <a:solidFill>
                            <a:srgbClr val="FFFFFF"/>
                          </a:solidFill>
                          <a:latin typeface="Cambria"/>
                        </a:rPr>
                        <a:t>Error</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Why it fails</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Fix</a:t>
                      </a:r>
                    </a:p>
                  </a:txBody>
                  <a:tcPr marL="91440" marR="91440" marT="36576" marB="36576" anchor="ctr">
                    <a:lnB w="9525" cap="flat">
                      <a:solidFill>
                        <a:srgbClr val="6D2E46"/>
                      </a:solidFill>
                    </a:lnB>
                    <a:solidFill>
                      <a:srgbClr val="6D2E46"/>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Wrong account</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Using your personal Gmail, your Outlier login, or an account from another queue breaks the task.</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Sign in only with the demo account you claimed from the link above.</a:t>
                      </a:r>
                    </a:p>
                  </a:txBody>
                  <a:tcPr marL="91440" marR="91440" marT="36576" marB="36576" anchor="ctr">
                    <a:lnB w="9525" cap="flat">
                      <a:solidFill>
                        <a:srgbClr val="EAD9DD"/>
                      </a:solidFill>
                    </a:lnB>
                    <a:solidFill>
                      <a:srgbClr val="FFFFFF"/>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Wrong model</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Results are not valid if the custom model is not selected.</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Select 3.8 Flash and set Thinking level to Low. If the options aren't visible, flag it in the War Room.</a:t>
                      </a:r>
                    </a:p>
                  </a:txBody>
                  <a:tcPr marL="91440" marR="91440" marT="36576" marB="36576" anchor="ctr">
                    <a:lnB w="9525" cap="flat">
                      <a:solidFill>
                        <a:srgbClr val="EAD9DD"/>
                      </a:solidFill>
                    </a:lnB>
                    <a:solidFill>
                      <a:srgbClr val="F9F4F5"/>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Model not proven as 3.8 Flash</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The chat PDF says “Created with Auto”, the screenshot is missing, or it is taken from an empty chat with no “custom” label.</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Screenshot the custom selector (3.8 Flash, Thinking Low) before the run, and confirm the chat PDF shows the custom model.</a:t>
                      </a:r>
                    </a:p>
                  </a:txBody>
                  <a:tcPr marL="91440" marR="91440" marT="36576" marB="36576" anchor="ctr">
                    <a:lnB w="9525" cap="flat">
                      <a:solidFill>
                        <a:srgbClr val="EAD9DD"/>
                      </a:solidFill>
                    </a:lnB>
                    <a:solidFill>
                      <a:srgbClr val="FFFFFF"/>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Not resetting before the run</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Leftover files, drafts or events from earlier runs change the result.</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Open the reset link, pick your account, tick the box and click Restore baseline.</a:t>
                      </a:r>
                    </a:p>
                  </a:txBody>
                  <a:tcPr marL="91440" marR="91440" marT="36576" marB="36576" anchor="ctr">
                    <a:lnB w="9525" cap="flat">
                      <a:solidFill>
                        <a:srgbClr val="EAD9DD"/>
                      </a:solidFill>
                    </a:lnB>
                    <a:solidFill>
                      <a:srgbClr val="F9F4F5"/>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Starting before reset finishes</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You run the model on a half-restored account.</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Wait for the green “Your workspace is restored” message.</a:t>
                      </a:r>
                    </a:p>
                  </a:txBody>
                  <a:tcPr marL="91440" marR="91440" marT="36576" marB="36576" anchor="ctr">
                    <a:lnB w="9525" cap="flat">
                      <a:solidFill>
                        <a:srgbClr val="EAD9DD"/>
                      </a:solidFill>
                    </a:lnB>
                    <a:solidFill>
                      <a:srgbClr val="FFFFFF"/>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Resetting after the run</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It deletes the files and drafts you still have to upload and check.</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Reset before a run. Save your evidence first.</a:t>
                      </a:r>
                    </a:p>
                  </a:txBody>
                  <a:tcPr marL="91440" marR="91440" marT="36576" marB="36576" anchor="ctr">
                    <a:lnB w="9525" cap="flat">
                      <a:solidFill>
                        <a:srgbClr val="EAD9DD"/>
                      </a:solidFill>
                    </a:lnB>
                    <a:solidFill>
                      <a:srgbClr val="F9F4F5"/>
                    </a:solidFill>
                  </a:tcPr>
                </a:tc>
              </a:tr>
            </a:tbl>
          </a:graphicData>
        </a:graphic>
      </p:graphicFrame>
      <p:sp>
        <p:nvSpPr>
          <p:cNvPr id="7" name="Rounded Rectangle 6"/>
          <p:cNvSpPr/>
          <p:nvPr/>
        </p:nvSpPr>
        <p:spPr>
          <a:xfrm>
            <a:off x="566928" y="5394960"/>
            <a:ext cx="11064240" cy="512064"/>
          </a:xfrm>
          <a:prstGeom prst="roundRect">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5550408"/>
            <a:ext cx="10424160" cy="237744"/>
          </a:xfrm>
          <a:prstGeom prst="rect">
            <a:avLst/>
          </a:prstGeom>
          <a:noFill/>
        </p:spPr>
        <p:txBody>
          <a:bodyPr wrap="square" anchor="ctr" lIns="0" rIns="0" tIns="0" bIns="0">
            <a:spAutoFit/>
          </a:bodyPr>
          <a:lstStyle/>
          <a:p>
            <a:pPr algn="l">
              <a:lnSpc>
                <a:spcPct val="103000"/>
              </a:lnSpc>
              <a:spcBef>
                <a:spcPts val="0"/>
              </a:spcBef>
              <a:spcAft>
                <a:spcPts val="300"/>
              </a:spcAft>
            </a:pPr>
            <a:r>
              <a:rPr sz="1250" b="1" i="0">
                <a:solidFill>
                  <a:srgbClr val="6D2E46"/>
                </a:solidFill>
                <a:latin typeface="Calibri"/>
              </a:rPr>
              <a:t>Reset before a run, never after one.  </a:t>
            </a:r>
            <a:r>
              <a:rPr sz="1250" b="0" i="0">
                <a:solidFill>
                  <a:srgbClr val="6D2E46"/>
                </a:solidFill>
                <a:latin typeface="Calibri"/>
              </a:rPr>
              <a:t>Prove the model: screenshot the custom 3.8 Flash selector (Thinking Low) before the run.</a:t>
            </a:r>
          </a:p>
        </p:txBody>
      </p:sp>
      <p:sp>
        <p:nvSpPr>
          <p:cNvPr id="9" name="TextBox 8"/>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6B606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A26769"/>
                </a:solidFill>
                <a:latin typeface="Calibri"/>
              </a:rPr>
              <a:t>SECTION 2 · OPENING PROMPT</a:t>
            </a:r>
          </a:p>
        </p:txBody>
      </p:sp>
      <p:sp>
        <p:nvSpPr>
          <p:cNvPr id="4" name="TextBox 3"/>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6D2E46"/>
                </a:solidFill>
                <a:latin typeface="Cambria"/>
              </a:rPr>
              <a:t>A partial, grounded, human-written opener</a:t>
            </a:r>
          </a:p>
        </p:txBody>
      </p:sp>
      <p:sp>
        <p:nvSpPr>
          <p:cNvPr id="5" name="TextBox 4"/>
          <p:cNvSpPr txBox="1"/>
          <p:nvPr/>
        </p:nvSpPr>
        <p:spPr>
          <a:xfrm>
            <a:off x="566928" y="1426464"/>
            <a:ext cx="110642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i="0">
                <a:solidFill>
                  <a:srgbClr val="6B6064"/>
                </a:solidFill>
                <a:latin typeface="Calibri"/>
              </a:rPr>
              <a:t>The gap between what the opener states and what it withholds is the difficulty of the item. Give the model something to do, but not everything.</a:t>
            </a:r>
          </a:p>
        </p:txBody>
      </p:sp>
      <p:graphicFrame>
        <p:nvGraphicFramePr>
          <p:cNvPr id="6" name="Table 5"/>
          <p:cNvGraphicFramePr>
            <a:graphicFrameLocks noGrp="1"/>
          </p:cNvGraphicFramePr>
          <p:nvPr/>
        </p:nvGraphicFramePr>
        <p:xfrm>
          <a:off x="566928" y="1828800"/>
          <a:ext cx="11064240" cy="3867912"/>
        </p:xfrm>
        <a:graphic>
          <a:graphicData uri="http://schemas.openxmlformats.org/drawingml/2006/table">
            <a:tbl>
              <a:tblPr>
                <a:tableStyleId>{2D5ABB26-0587-4C30-8999-92F81FD0307C}</a:tableStyleId>
              </a:tblPr>
              <a:tblGrid>
                <a:gridCol w="2331720"/>
                <a:gridCol w="3703320"/>
                <a:gridCol w="5029200"/>
              </a:tblGrid>
              <a:tr h="347472">
                <a:tc>
                  <a:txBody>
                    <a:bodyPr wrap="square"/>
                    <a:lstStyle/>
                    <a:p>
                      <a:pPr algn="l">
                        <a:lnSpc>
                          <a:spcPct val="100000"/>
                        </a:lnSpc>
                        <a:spcBef>
                          <a:spcPts val="0"/>
                        </a:spcBef>
                        <a:spcAft>
                          <a:spcPts val="100"/>
                        </a:spcAft>
                      </a:pPr>
                      <a:r>
                        <a:rPr sz="1050" b="1" i="0">
                          <a:solidFill>
                            <a:srgbClr val="FFFFFF"/>
                          </a:solidFill>
                          <a:latin typeface="Cambria"/>
                        </a:rPr>
                        <a:t>Error</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Why it fails</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Fix</a:t>
                      </a:r>
                    </a:p>
                  </a:txBody>
                  <a:tcPr marL="91440" marR="91440" marT="36576" marB="36576" anchor="ctr">
                    <a:lnB w="9525" cap="flat">
                      <a:solidFill>
                        <a:srgbClr val="6D2E46"/>
                      </a:solidFill>
                    </a:lnB>
                    <a:solidFill>
                      <a:srgbClr val="6D2E46"/>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No ask at all</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The prompt only describes a situation and never asks for anything. A failing issue.</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1" i="0">
                          <a:solidFill>
                            <a:srgbClr val="A2433E"/>
                          </a:solidFill>
                          <a:latin typeface="Calibri"/>
                        </a:rPr>
                        <a:t>Bad: </a:t>
                      </a:r>
                      <a:r>
                        <a:rPr sz="980" b="0" i="0">
                          <a:solidFill>
                            <a:srgbClr val="2B2126"/>
                          </a:solidFill>
                          <a:latin typeface="Calibri"/>
                        </a:rPr>
                        <a:t>“I've been buried in the Q3 vendor review all week.”</a:t>
                      </a:r>
                    </a:p>
                    <a:p>
                      <a:pPr algn="l">
                        <a:lnSpc>
                          <a:spcPct val="100000"/>
                        </a:lnSpc>
                        <a:spcBef>
                          <a:spcPts val="0"/>
                        </a:spcBef>
                        <a:spcAft>
                          <a:spcPts val="100"/>
                        </a:spcAft>
                      </a:pPr>
                      <a:r>
                        <a:rPr sz="980" b="1" i="0">
                          <a:solidFill>
                            <a:srgbClr val="5B6E2F"/>
                          </a:solidFill>
                          <a:latin typeface="Calibri"/>
                        </a:rPr>
                        <a:t>Good: </a:t>
                      </a:r>
                      <a:r>
                        <a:rPr sz="980" b="0" i="0">
                          <a:solidFill>
                            <a:srgbClr val="2B2126"/>
                          </a:solidFill>
                          <a:latin typeface="Calibri"/>
                        </a:rPr>
                        <a:t>“…Can you help me work out which bids are solid before Friday?”</a:t>
                      </a:r>
                    </a:p>
                  </a:txBody>
                  <a:tcPr marL="91440" marR="91440" marT="36576" marB="36576" anchor="ctr">
                    <a:lnB w="9525" cap="flat">
                      <a:solidFill>
                        <a:srgbClr val="EAD9DD"/>
                      </a:solidFill>
                    </a:lnB>
                    <a:solidFill>
                      <a:srgbClr val="FFFFFF"/>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Asks for everything at once</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A strong model one-shots it, so a 20+ turn conversation never happens.</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1" i="0">
                          <a:solidFill>
                            <a:srgbClr val="A2433E"/>
                          </a:solidFill>
                          <a:latin typeface="Calibri"/>
                        </a:rPr>
                        <a:t>Bad: </a:t>
                      </a:r>
                      <a:r>
                        <a:rPr sz="980" b="0" i="0">
                          <a:solidFill>
                            <a:srgbClr val="2B2126"/>
                          </a:solidFill>
                          <a:latin typeface="Calibri"/>
                        </a:rPr>
                        <a:t>“Make a one-page PDF of my March expenses and email it to my manager.”</a:t>
                      </a:r>
                    </a:p>
                    <a:p>
                      <a:pPr algn="l">
                        <a:lnSpc>
                          <a:spcPct val="100000"/>
                        </a:lnSpc>
                        <a:spcBef>
                          <a:spcPts val="0"/>
                        </a:spcBef>
                        <a:spcAft>
                          <a:spcPts val="100"/>
                        </a:spcAft>
                      </a:pPr>
                      <a:r>
                        <a:rPr sz="980" b="1" i="0">
                          <a:solidFill>
                            <a:srgbClr val="5B6E2F"/>
                          </a:solidFill>
                          <a:latin typeface="Calibri"/>
                        </a:rPr>
                        <a:t>Good: </a:t>
                      </a:r>
                      <a:r>
                        <a:rPr sz="980" b="0" i="0">
                          <a:solidFill>
                            <a:srgbClr val="2B2126"/>
                          </a:solidFill>
                          <a:latin typeface="Calibri"/>
                        </a:rPr>
                        <a:t>“My numbers are due Friday and the March figures feel off. Can you help?”</a:t>
                      </a:r>
                    </a:p>
                  </a:txBody>
                  <a:tcPr marL="91440" marR="91440" marT="36576" marB="36576" anchor="ctr">
                    <a:lnB w="9525" cap="flat">
                      <a:solidFill>
                        <a:srgbClr val="EAD9DD"/>
                      </a:solidFill>
                    </a:lnB>
                    <a:solidFill>
                      <a:srgbClr val="F9F4F5"/>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Ungrounded entity</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Names a file, person or date not in the universe. The most common rejection.</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Open Gmail, Drive and Calendar first and confirm every name on screen.</a:t>
                      </a:r>
                    </a:p>
                  </a:txBody>
                  <a:tcPr marL="91440" marR="91440" marT="36576" marB="36576" anchor="ctr">
                    <a:lnB w="9525" cap="flat">
                      <a:solidFill>
                        <a:srgbClr val="EAD9DD"/>
                      </a:solidFill>
                    </a:lnB>
                    <a:solidFill>
                      <a:srgbClr val="FFFFFF"/>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Written or polished by an LLM</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Paste is disabled and you attest the text is your own.</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Write it yourself, in your own words.</a:t>
                      </a:r>
                    </a:p>
                  </a:txBody>
                  <a:tcPr marL="91440" marR="91440" marT="36576" marB="36576" anchor="ctr">
                    <a:lnB w="9525" cap="flat">
                      <a:solidFill>
                        <a:srgbClr val="EAD9DD"/>
                      </a:solidFill>
                    </a:lnB>
                    <a:solidFill>
                      <a:srgbClr val="F9F4F5"/>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Wrong language or register</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A fully English opener on a fr/de item (loanwords are fine), or an English scenario translated into the locale, reads unnatural and restarts the item.</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Write natively in the assigned locale from the start. Never “fix it in translation.”</a:t>
                      </a:r>
                    </a:p>
                  </a:txBody>
                  <a:tcPr marL="91440" marR="91440" marT="36576" marB="36576" anchor="ctr">
                    <a:lnB w="9525" cap="flat">
                      <a:solidFill>
                        <a:srgbClr val="EAD9DD"/>
                      </a:solidFill>
                    </a:lnB>
                    <a:solidFill>
                      <a:srgbClr val="FFFFFF"/>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All deliverables in the opener</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Naming the file, numbers or email gives the answer away and the model one-shots it.</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Describe the situation and the worry, not the output. Put the PDF, sheet and draft in Target Deliverables.</a:t>
                      </a:r>
                    </a:p>
                  </a:txBody>
                  <a:tcPr marL="91440" marR="91440" marT="36576" marB="36576" anchor="ctr">
                    <a:lnB w="9525" cap="flat">
                      <a:solidFill>
                        <a:srgbClr val="EAD9DD"/>
                      </a:solidFill>
                    </a:lnB>
                    <a:solidFill>
                      <a:srgbClr val="F9F4F5"/>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Contrived or stacked constraints</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The opener piles on rigid, unrealistic rules (exactly three tables, 15-minute blocks, legally-binding wording) that no real user would stack.</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Use only constraints a real user would set, and keep the opener a loose, situation-first ask.</a:t>
                      </a:r>
                    </a:p>
                  </a:txBody>
                  <a:tcPr marL="91440" marR="91440" marT="36576" marB="36576" anchor="ctr">
                    <a:lnB w="9525" cap="flat">
                      <a:solidFill>
                        <a:srgbClr val="EAD9DD"/>
                      </a:solidFill>
                    </a:lnB>
                    <a:solidFill>
                      <a:srgbClr val="FFFFFF"/>
                    </a:solidFill>
                  </a:tcPr>
                </a:tc>
              </a:tr>
            </a:tbl>
          </a:graphicData>
        </a:graphic>
      </p:graphicFrame>
      <p:sp>
        <p:nvSpPr>
          <p:cNvPr id="7" name="Rounded Rectangle 6"/>
          <p:cNvSpPr/>
          <p:nvPr/>
        </p:nvSpPr>
        <p:spPr>
          <a:xfrm>
            <a:off x="566928" y="5797296"/>
            <a:ext cx="11064240" cy="493776"/>
          </a:xfrm>
          <a:prstGeom prst="roundRect">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5952744"/>
            <a:ext cx="10424160" cy="219456"/>
          </a:xfrm>
          <a:prstGeom prst="rect">
            <a:avLst/>
          </a:prstGeom>
          <a:noFill/>
        </p:spPr>
        <p:txBody>
          <a:bodyPr wrap="square" anchor="ctr" lIns="0" rIns="0" tIns="0" bIns="0">
            <a:spAutoFit/>
          </a:bodyPr>
          <a:lstStyle/>
          <a:p>
            <a:pPr algn="l">
              <a:lnSpc>
                <a:spcPct val="103000"/>
              </a:lnSpc>
              <a:spcBef>
                <a:spcPts val="0"/>
              </a:spcBef>
              <a:spcAft>
                <a:spcPts val="300"/>
              </a:spcAft>
            </a:pPr>
            <a:r>
              <a:rPr sz="1250" b="1" i="0">
                <a:solidFill>
                  <a:srgbClr val="6D2E46"/>
                </a:solidFill>
                <a:latin typeface="Calibri"/>
              </a:rPr>
              <a:t>See worked examples:  </a:t>
            </a:r>
            <a:r>
              <a:rPr sz="1250" b="0" i="0">
                <a:solidFill>
                  <a:srgbClr val="6D2E46"/>
                </a:solidFill>
                <a:latin typeface="Calibri"/>
              </a:rPr>
              <a:t>nectarbloom-exemplar.vercel.app (password: Nectar). Tasks rated 5/5 and 3/5 by QC, plus a full rework.</a:t>
            </a:r>
          </a:p>
        </p:txBody>
      </p:sp>
      <p:sp>
        <p:nvSpPr>
          <p:cNvPr id="9" name="TextBox 8"/>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6B606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A26769"/>
                </a:solidFill>
                <a:latin typeface="Calibri"/>
              </a:rPr>
              <a:t>SECTION 3 · TARGET DELIVERABLES</a:t>
            </a:r>
          </a:p>
        </p:txBody>
      </p:sp>
      <p:sp>
        <p:nvSpPr>
          <p:cNvPr id="4" name="TextBox 3"/>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6D2E46"/>
                </a:solidFill>
                <a:latin typeface="Cambria"/>
              </a:rPr>
              <a:t>Each deliverable: artifact, values, side effects, absence</a:t>
            </a:r>
          </a:p>
        </p:txBody>
      </p:sp>
      <p:sp>
        <p:nvSpPr>
          <p:cNvPr id="5" name="TextBox 4"/>
          <p:cNvSpPr txBox="1"/>
          <p:nvPr/>
        </p:nvSpPr>
        <p:spPr>
          <a:xfrm>
            <a:off x="566928" y="1426464"/>
            <a:ext cx="110642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i="0">
                <a:solidFill>
                  <a:srgbClr val="6B6064"/>
                </a:solidFill>
                <a:latin typeface="Calibri"/>
              </a:rPr>
              <a:t>The answer key you write before you know how the model behaves. Every entry must be checkable against a produced artifact or a landed action.</a:t>
            </a:r>
          </a:p>
        </p:txBody>
      </p:sp>
      <p:graphicFrame>
        <p:nvGraphicFramePr>
          <p:cNvPr id="6" name="Table 5"/>
          <p:cNvGraphicFramePr>
            <a:graphicFrameLocks noGrp="1"/>
          </p:cNvGraphicFramePr>
          <p:nvPr/>
        </p:nvGraphicFramePr>
        <p:xfrm>
          <a:off x="566928" y="1865376"/>
          <a:ext cx="11064240" cy="3803904"/>
        </p:xfrm>
        <a:graphic>
          <a:graphicData uri="http://schemas.openxmlformats.org/drawingml/2006/table">
            <a:tbl>
              <a:tblPr>
                <a:tableStyleId>{2D5ABB26-0587-4C30-8999-92F81FD0307C}</a:tableStyleId>
              </a:tblPr>
              <a:tblGrid>
                <a:gridCol w="2514600"/>
                <a:gridCol w="3840480"/>
                <a:gridCol w="4709160"/>
              </a:tblGrid>
              <a:tr h="402336">
                <a:tc>
                  <a:txBody>
                    <a:bodyPr wrap="square"/>
                    <a:lstStyle/>
                    <a:p>
                      <a:pPr algn="l">
                        <a:lnSpc>
                          <a:spcPct val="100000"/>
                        </a:lnSpc>
                        <a:spcBef>
                          <a:spcPts val="0"/>
                        </a:spcBef>
                        <a:spcAft>
                          <a:spcPts val="100"/>
                        </a:spcAft>
                      </a:pPr>
                      <a:r>
                        <a:rPr sz="1050" b="1" i="0">
                          <a:solidFill>
                            <a:srgbClr val="FFFFFF"/>
                          </a:solidFill>
                          <a:latin typeface="Cambria"/>
                        </a:rPr>
                        <a:t>Error</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Why it fails</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Fix</a:t>
                      </a:r>
                    </a:p>
                  </a:txBody>
                  <a:tcPr marL="91440" marR="91440" marT="36576" marB="36576" anchor="ctr">
                    <a:lnB w="9525" cap="flat">
                      <a:solidFill>
                        <a:srgbClr val="6D2E46"/>
                      </a:solidFill>
                    </a:lnB>
                    <a:solidFill>
                      <a:srgbClr val="6D2E46"/>
                    </a:solidFill>
                  </a:tcPr>
                </a:tc>
              </a:tr>
              <a:tr h="566928">
                <a:tc>
                  <a:txBody>
                    <a:bodyPr wrap="square"/>
                    <a:lstStyle/>
                    <a:p>
                      <a:pPr algn="l">
                        <a:lnSpc>
                          <a:spcPct val="100000"/>
                        </a:lnSpc>
                        <a:spcBef>
                          <a:spcPts val="0"/>
                        </a:spcBef>
                        <a:spcAft>
                          <a:spcPts val="100"/>
                        </a:spcAft>
                      </a:pPr>
                      <a:r>
                        <a:rPr sz="1019" b="1" i="0">
                          <a:solidFill>
                            <a:srgbClr val="6D2E46"/>
                          </a:solidFill>
                          <a:latin typeface="Calibri"/>
                        </a:rPr>
                        <a:t>Vague deliverable</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“The model should give a good vendor recommendation” cannot be checked.</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“Produces a 1-page PDF vendor_brief.pdf naming the two selected vendors and their bid totals.”</a:t>
                      </a:r>
                    </a:p>
                  </a:txBody>
                  <a:tcPr marL="91440" marR="91440" marT="36576" marB="36576" anchor="ctr">
                    <a:lnB w="9525" cap="flat">
                      <a:solidFill>
                        <a:srgbClr val="EAD9DD"/>
                      </a:solidFill>
                    </a:lnB>
                    <a:solidFill>
                      <a:srgbClr val="FFFFFF"/>
                    </a:solidFill>
                  </a:tcPr>
                </a:tc>
              </a:tr>
              <a:tr h="566928">
                <a:tc>
                  <a:txBody>
                    <a:bodyPr wrap="square"/>
                    <a:lstStyle/>
                    <a:p>
                      <a:pPr algn="l">
                        <a:lnSpc>
                          <a:spcPct val="100000"/>
                        </a:lnSpc>
                        <a:spcBef>
                          <a:spcPts val="0"/>
                        </a:spcBef>
                        <a:spcAft>
                          <a:spcPts val="100"/>
                        </a:spcAft>
                      </a:pPr>
                      <a:r>
                        <a:rPr sz="1019" b="1" i="0">
                          <a:solidFill>
                            <a:srgbClr val="6D2E46"/>
                          </a:solidFill>
                          <a:latin typeface="Calibri"/>
                        </a:rPr>
                        <a:t>A guess about the user</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“The user might ask to fix the budget sheet” cannot be graded.</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State the finished result: “Produces a corrected budget sheet with March totals.”</a:t>
                      </a:r>
                    </a:p>
                  </a:txBody>
                  <a:tcPr marL="91440" marR="91440" marT="36576" marB="36576" anchor="ctr">
                    <a:lnB w="9525" cap="flat">
                      <a:solidFill>
                        <a:srgbClr val="EAD9DD"/>
                      </a:solidFill>
                    </a:lnB>
                    <a:solidFill>
                      <a:srgbClr val="F9F4F5"/>
                    </a:solidFill>
                  </a:tcPr>
                </a:tc>
              </a:tr>
              <a:tr h="566928">
                <a:tc>
                  <a:txBody>
                    <a:bodyPr wrap="square"/>
                    <a:lstStyle/>
                    <a:p>
                      <a:pPr algn="l">
                        <a:lnSpc>
                          <a:spcPct val="100000"/>
                        </a:lnSpc>
                        <a:spcBef>
                          <a:spcPts val="0"/>
                        </a:spcBef>
                        <a:spcAft>
                          <a:spcPts val="100"/>
                        </a:spcAft>
                      </a:pPr>
                      <a:r>
                        <a:rPr sz="1019" b="1" i="0">
                          <a:solidFill>
                            <a:srgbClr val="6D2E46"/>
                          </a:solidFill>
                          <a:latin typeface="Calibri"/>
                        </a:rPr>
                        <a:t>No values or absences</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“Prepare a reconciliation file” gives the rubric nothing to grade.</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Name the artifact, its exact values, side effects (drafts, events) and what must be absent (out-of-scope data, PII, a sent email).</a:t>
                      </a:r>
                    </a:p>
                  </a:txBody>
                  <a:tcPr marL="91440" marR="91440" marT="36576" marB="36576" anchor="ctr">
                    <a:lnB w="9525" cap="flat">
                      <a:solidFill>
                        <a:srgbClr val="EAD9DD"/>
                      </a:solidFill>
                    </a:lnB>
                    <a:solidFill>
                      <a:srgbClr val="FFFFFF"/>
                    </a:solidFill>
                  </a:tcPr>
                </a:tc>
              </a:tr>
              <a:tr h="566928">
                <a:tc>
                  <a:txBody>
                    <a:bodyPr wrap="square"/>
                    <a:lstStyle/>
                    <a:p>
                      <a:pPr algn="l">
                        <a:lnSpc>
                          <a:spcPct val="100000"/>
                        </a:lnSpc>
                        <a:spcBef>
                          <a:spcPts val="0"/>
                        </a:spcBef>
                        <a:spcAft>
                          <a:spcPts val="100"/>
                        </a:spcAft>
                      </a:pPr>
                      <a:r>
                        <a:rPr sz="1019" b="1" i="0">
                          <a:solidFill>
                            <a:srgbClr val="6D2E46"/>
                          </a:solidFill>
                          <a:latin typeface="Calibri"/>
                        </a:rPr>
                        <a:t>Requires sending or sharing</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The model may draft but must never send an email or share a file.</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Say “drafts an email that stays unsent.”</a:t>
                      </a:r>
                    </a:p>
                  </a:txBody>
                  <a:tcPr marL="91440" marR="91440" marT="36576" marB="36576" anchor="ctr">
                    <a:lnB w="9525" cap="flat">
                      <a:solidFill>
                        <a:srgbClr val="EAD9DD"/>
                      </a:solidFill>
                    </a:lnB>
                    <a:solidFill>
                      <a:srgbClr val="F9F4F5"/>
                    </a:solidFill>
                  </a:tcPr>
                </a:tc>
              </a:tr>
              <a:tr h="566928">
                <a:tc>
                  <a:txBody>
                    <a:bodyPr wrap="square"/>
                    <a:lstStyle/>
                    <a:p>
                      <a:pPr algn="l">
                        <a:lnSpc>
                          <a:spcPct val="100000"/>
                        </a:lnSpc>
                        <a:spcBef>
                          <a:spcPts val="0"/>
                        </a:spcBef>
                        <a:spcAft>
                          <a:spcPts val="100"/>
                        </a:spcAft>
                      </a:pPr>
                      <a:r>
                        <a:rPr sz="1019" b="1" i="0">
                          <a:solidFill>
                            <a:srgbClr val="6D2E46"/>
                          </a:solidFill>
                          <a:latin typeface="Calibri"/>
                        </a:rPr>
                        <a:t>Too thin for 20+ turns</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If your honest turn estimate is under 20, the scenario is too thin.</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Add real work: a new artifact, a cross-source check, or a mid-task correction. Re-confirming or splitting one ask does not count.</a:t>
                      </a:r>
                    </a:p>
                  </a:txBody>
                  <a:tcPr marL="91440" marR="91440" marT="36576" marB="36576" anchor="ctr">
                    <a:lnB w="9525" cap="flat">
                      <a:solidFill>
                        <a:srgbClr val="EAD9DD"/>
                      </a:solidFill>
                    </a:lnB>
                    <a:solidFill>
                      <a:srgbClr val="FFFFFF"/>
                    </a:solidFill>
                  </a:tcPr>
                </a:tc>
              </a:tr>
              <a:tr h="566928">
                <a:tc>
                  <a:txBody>
                    <a:bodyPr wrap="square"/>
                    <a:lstStyle/>
                    <a:p>
                      <a:pPr algn="l">
                        <a:lnSpc>
                          <a:spcPct val="100000"/>
                        </a:lnSpc>
                        <a:spcBef>
                          <a:spcPts val="0"/>
                        </a:spcBef>
                        <a:spcAft>
                          <a:spcPts val="100"/>
                        </a:spcAft>
                      </a:pPr>
                      <a:r>
                        <a:rPr sz="1019" b="1" i="0">
                          <a:solidFill>
                            <a:srgbClr val="6D2E46"/>
                          </a:solidFill>
                          <a:latin typeface="Calibri"/>
                        </a:rPr>
                        <a:t>No unique ground truth</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The item has more than one valid answer, or the result is subjective or undetermined; or the target outcome is a question that names nothing to produce.</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Pose one concrete task that lands on a single correct final state, derivable from the sources, with at least one produced output.</a:t>
                      </a:r>
                    </a:p>
                  </a:txBody>
                  <a:tcPr marL="91440" marR="91440" marT="36576" marB="36576" anchor="ctr">
                    <a:lnB w="9525" cap="flat">
                      <a:solidFill>
                        <a:srgbClr val="EAD9DD"/>
                      </a:solidFill>
                    </a:lnB>
                    <a:solidFill>
                      <a:srgbClr val="F9F4F5"/>
                    </a:solidFill>
                  </a:tcPr>
                </a:tc>
              </a:tr>
            </a:tbl>
          </a:graphicData>
        </a:graphic>
      </p:graphicFrame>
      <p:sp>
        <p:nvSpPr>
          <p:cNvPr id="7" name="Rounded Rectangle 6"/>
          <p:cNvSpPr/>
          <p:nvPr/>
        </p:nvSpPr>
        <p:spPr>
          <a:xfrm>
            <a:off x="566928" y="5742432"/>
            <a:ext cx="11064240" cy="512064"/>
          </a:xfrm>
          <a:prstGeom prst="roundRect">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5897880"/>
            <a:ext cx="10424160" cy="237744"/>
          </a:xfrm>
          <a:prstGeom prst="rect">
            <a:avLst/>
          </a:prstGeom>
          <a:noFill/>
        </p:spPr>
        <p:txBody>
          <a:bodyPr wrap="square" anchor="ctr" lIns="0" rIns="0" tIns="0" bIns="0">
            <a:spAutoFit/>
          </a:bodyPr>
          <a:lstStyle/>
          <a:p>
            <a:pPr algn="l">
              <a:lnSpc>
                <a:spcPct val="103000"/>
              </a:lnSpc>
              <a:spcBef>
                <a:spcPts val="0"/>
              </a:spcBef>
              <a:spcAft>
                <a:spcPts val="300"/>
              </a:spcAft>
            </a:pPr>
            <a:r>
              <a:rPr sz="1250" b="1" i="0">
                <a:solidFill>
                  <a:srgbClr val="6D2E46"/>
                </a:solidFill>
                <a:latin typeface="Calibri"/>
              </a:rPr>
              <a:t>Hard project rule:  </a:t>
            </a:r>
            <a:r>
              <a:rPr sz="1250" b="0" i="0">
                <a:solidFill>
                  <a:srgbClr val="6D2E46"/>
                </a:solidFill>
                <a:latin typeface="Calibri"/>
              </a:rPr>
              <a:t>the model may create drafts, documents and files, but must never send emails or share files. Any draft stays unsent.</a:t>
            </a:r>
          </a:p>
        </p:txBody>
      </p:sp>
      <p:sp>
        <p:nvSpPr>
          <p:cNvPr id="9" name="TextBox 8"/>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6B606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A26769"/>
                </a:solidFill>
                <a:latin typeface="Calibri"/>
              </a:rPr>
              <a:t>SECTION 3 · GTFA (GROUND-TRUTH ANSWER)</a:t>
            </a:r>
          </a:p>
        </p:txBody>
      </p:sp>
      <p:sp>
        <p:nvSpPr>
          <p:cNvPr id="4" name="TextBox 3"/>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6D2E46"/>
                </a:solidFill>
                <a:latin typeface="Cambria"/>
              </a:rPr>
              <a:t>A GTFA that covers every ask and matches the sources</a:t>
            </a:r>
          </a:p>
        </p:txBody>
      </p:sp>
      <p:sp>
        <p:nvSpPr>
          <p:cNvPr id="5" name="TextBox 4"/>
          <p:cNvSpPr txBox="1"/>
          <p:nvPr/>
        </p:nvSpPr>
        <p:spPr>
          <a:xfrm>
            <a:off x="566928" y="1426464"/>
            <a:ext cx="110642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i="0">
                <a:solidFill>
                  <a:srgbClr val="6B6064"/>
                </a:solidFill>
                <a:latin typeface="Calibri"/>
              </a:rPr>
              <a:t>The ideal, factually correct completion, with real values filled in. Anything missing from the GTFA cannot be graded later.</a:t>
            </a:r>
          </a:p>
        </p:txBody>
      </p:sp>
      <p:graphicFrame>
        <p:nvGraphicFramePr>
          <p:cNvPr id="6" name="Table 5"/>
          <p:cNvGraphicFramePr>
            <a:graphicFrameLocks noGrp="1"/>
          </p:cNvGraphicFramePr>
          <p:nvPr/>
        </p:nvGraphicFramePr>
        <p:xfrm>
          <a:off x="566928" y="1883664"/>
          <a:ext cx="11064239" cy="3657600"/>
        </p:xfrm>
        <a:graphic>
          <a:graphicData uri="http://schemas.openxmlformats.org/drawingml/2006/table">
            <a:tbl>
              <a:tblPr>
                <a:tableStyleId>{2D5ABB26-0587-4C30-8999-92F81FD0307C}</a:tableStyleId>
              </a:tblPr>
              <a:tblGrid>
                <a:gridCol w="2651760"/>
                <a:gridCol w="3977639"/>
                <a:gridCol w="4434840"/>
              </a:tblGrid>
              <a:tr h="365760">
                <a:tc>
                  <a:txBody>
                    <a:bodyPr wrap="square"/>
                    <a:lstStyle/>
                    <a:p>
                      <a:pPr algn="l">
                        <a:lnSpc>
                          <a:spcPct val="100000"/>
                        </a:lnSpc>
                        <a:spcBef>
                          <a:spcPts val="0"/>
                        </a:spcBef>
                        <a:spcAft>
                          <a:spcPts val="100"/>
                        </a:spcAft>
                      </a:pPr>
                      <a:r>
                        <a:rPr sz="1050" b="1" i="0">
                          <a:solidFill>
                            <a:srgbClr val="FFFFFF"/>
                          </a:solidFill>
                          <a:latin typeface="Cambria"/>
                        </a:rPr>
                        <a:t>Error</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Why it fails</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Fix</a:t>
                      </a:r>
                    </a:p>
                  </a:txBody>
                  <a:tcPr marL="91440" marR="91440" marT="36576" marB="36576" anchor="ctr">
                    <a:lnB w="9525" cap="flat">
                      <a:solidFill>
                        <a:srgbClr val="6D2E46"/>
                      </a:solidFill>
                    </a:lnB>
                    <a:solidFill>
                      <a:srgbClr val="6D2E46"/>
                    </a:solidFill>
                  </a:tcPr>
                </a:tc>
              </a:tr>
              <a:tr h="548640">
                <a:tc>
                  <a:txBody>
                    <a:bodyPr wrap="square"/>
                    <a:lstStyle/>
                    <a:p>
                      <a:pPr algn="l">
                        <a:lnSpc>
                          <a:spcPct val="100000"/>
                        </a:lnSpc>
                        <a:spcBef>
                          <a:spcPts val="0"/>
                        </a:spcBef>
                        <a:spcAft>
                          <a:spcPts val="100"/>
                        </a:spcAft>
                      </a:pPr>
                      <a:r>
                        <a:rPr sz="1019" b="1" i="0">
                          <a:solidFill>
                            <a:srgbClr val="6D2E46"/>
                          </a:solidFill>
                          <a:latin typeface="Calibri"/>
                        </a:rPr>
                        <a:t>GTFA leaves things out</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Not covering one of the prompt's asks is an issue; anything missing can't be graded.</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Walk the prompt ask by ask and tick each against the GTFA: deliverables, values, side effects, absences.</a:t>
                      </a:r>
                    </a:p>
                  </a:txBody>
                  <a:tcPr marL="91440" marR="91440" marT="36576" marB="36576" anchor="ctr">
                    <a:lnB w="9525" cap="flat">
                      <a:solidFill>
                        <a:srgbClr val="EAD9DD"/>
                      </a:solidFill>
                    </a:lnB>
                    <a:solidFill>
                      <a:srgbClr val="FFFFFF"/>
                    </a:solidFill>
                  </a:tcPr>
                </a:tc>
              </a:tr>
              <a:tr h="548640">
                <a:tc>
                  <a:txBody>
                    <a:bodyPr wrap="square"/>
                    <a:lstStyle/>
                    <a:p>
                      <a:pPr algn="l">
                        <a:lnSpc>
                          <a:spcPct val="100000"/>
                        </a:lnSpc>
                        <a:spcBef>
                          <a:spcPts val="0"/>
                        </a:spcBef>
                        <a:spcAft>
                          <a:spcPts val="100"/>
                        </a:spcAft>
                      </a:pPr>
                      <a:r>
                        <a:rPr sz="1019" b="1" i="0">
                          <a:solidFill>
                            <a:srgbClr val="6D2E46"/>
                          </a:solidFill>
                          <a:latin typeface="Calibri"/>
                        </a:rPr>
                        <a:t>Contradicts the sources</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Wrong amounts or dates, stale prices, or figures that appear in no file make every grade wrong.</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Build a “claim vs source” table and check each fact against the files.</a:t>
                      </a:r>
                    </a:p>
                  </a:txBody>
                  <a:tcPr marL="91440" marR="91440" marT="36576" marB="36576" anchor="ctr">
                    <a:lnB w="9525" cap="flat">
                      <a:solidFill>
                        <a:srgbClr val="EAD9DD"/>
                      </a:solidFill>
                    </a:lnB>
                    <a:solidFill>
                      <a:srgbClr val="F9F4F5"/>
                    </a:solidFill>
                  </a:tcPr>
                </a:tc>
              </a:tr>
              <a:tr h="548640">
                <a:tc>
                  <a:txBody>
                    <a:bodyPr wrap="square"/>
                    <a:lstStyle/>
                    <a:p>
                      <a:pPr algn="l">
                        <a:lnSpc>
                          <a:spcPct val="100000"/>
                        </a:lnSpc>
                        <a:spcBef>
                          <a:spcPts val="0"/>
                        </a:spcBef>
                        <a:spcAft>
                          <a:spcPts val="100"/>
                        </a:spcAft>
                      </a:pPr>
                      <a:r>
                        <a:rPr sz="1019" b="1" i="0">
                          <a:solidFill>
                            <a:srgbClr val="6D2E46"/>
                          </a:solidFill>
                          <a:latin typeface="Calibri"/>
                        </a:rPr>
                        <a:t>Values with no source</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Emails, dates, penalties or reserves that exist only in the GTFA or the model's reply.</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If a value can't be found in, or worked out from, an uploaded file, leave it out.</a:t>
                      </a:r>
                    </a:p>
                  </a:txBody>
                  <a:tcPr marL="91440" marR="91440" marT="36576" marB="36576" anchor="ctr">
                    <a:lnB w="9525" cap="flat">
                      <a:solidFill>
                        <a:srgbClr val="EAD9DD"/>
                      </a:solidFill>
                    </a:lnB>
                    <a:solidFill>
                      <a:srgbClr val="FFFFFF"/>
                    </a:solidFill>
                  </a:tcPr>
                </a:tc>
              </a:tr>
              <a:tr h="548640">
                <a:tc>
                  <a:txBody>
                    <a:bodyPr wrap="square"/>
                    <a:lstStyle/>
                    <a:p>
                      <a:pPr algn="l">
                        <a:lnSpc>
                          <a:spcPct val="100000"/>
                        </a:lnSpc>
                        <a:spcBef>
                          <a:spcPts val="0"/>
                        </a:spcBef>
                        <a:spcAft>
                          <a:spcPts val="100"/>
                        </a:spcAft>
                      </a:pPr>
                      <a:r>
                        <a:rPr sz="1019" b="1" i="0">
                          <a:solidFill>
                            <a:srgbClr val="6D2E46"/>
                          </a:solidFill>
                          <a:latin typeface="Calibri"/>
                        </a:rPr>
                        <a:t>Wrong method, plausible number</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A naive split instead of the source's rolling window; DST applied in winter; wrong time zone.</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Re-calculate with the source's own method and check time zones.</a:t>
                      </a:r>
                    </a:p>
                  </a:txBody>
                  <a:tcPr marL="91440" marR="91440" marT="36576" marB="36576" anchor="ctr">
                    <a:lnB w="9525" cap="flat">
                      <a:solidFill>
                        <a:srgbClr val="EAD9DD"/>
                      </a:solidFill>
                    </a:lnB>
                    <a:solidFill>
                      <a:srgbClr val="F9F4F5"/>
                    </a:solidFill>
                  </a:tcPr>
                </a:tc>
              </a:tr>
              <a:tr h="548640">
                <a:tc>
                  <a:txBody>
                    <a:bodyPr wrap="square"/>
                    <a:lstStyle/>
                    <a:p>
                      <a:pPr algn="l">
                        <a:lnSpc>
                          <a:spcPct val="100000"/>
                        </a:lnSpc>
                        <a:spcBef>
                          <a:spcPts val="0"/>
                        </a:spcBef>
                        <a:spcAft>
                          <a:spcPts val="100"/>
                        </a:spcAft>
                      </a:pPr>
                      <a:r>
                        <a:rPr sz="1019" b="1" i="0">
                          <a:solidFill>
                            <a:srgbClr val="6D2E46"/>
                          </a:solidFill>
                          <a:latin typeface="Calibri"/>
                        </a:rPr>
                        <a:t>Fields that disagree</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A value in only one field, or outcomes that say “pay” while the rubric says “file.”</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Keep opener, deliverables, rubric, GTFA and Not Known consistent.</a:t>
                      </a:r>
                    </a:p>
                  </a:txBody>
                  <a:tcPr marL="91440" marR="91440" marT="36576" marB="36576" anchor="ctr">
                    <a:lnB w="9525" cap="flat">
                      <a:solidFill>
                        <a:srgbClr val="EAD9DD"/>
                      </a:solidFill>
                    </a:lnB>
                    <a:solidFill>
                      <a:srgbClr val="FFFFFF"/>
                    </a:solidFill>
                  </a:tcPr>
                </a:tc>
              </a:tr>
              <a:tr h="548640">
                <a:tc>
                  <a:txBody>
                    <a:bodyPr wrap="square"/>
                    <a:lstStyle/>
                    <a:p>
                      <a:pPr algn="l">
                        <a:lnSpc>
                          <a:spcPct val="100000"/>
                        </a:lnSpc>
                        <a:spcBef>
                          <a:spcPts val="0"/>
                        </a:spcBef>
                        <a:spcAft>
                          <a:spcPts val="100"/>
                        </a:spcAft>
                      </a:pPr>
                      <a:r>
                        <a:rPr sz="1019" b="1" i="0">
                          <a:solidFill>
                            <a:srgbClr val="6D2E46"/>
                          </a:solidFill>
                          <a:latin typeface="Calibri"/>
                        </a:rPr>
                        <a:t>Known / Not Known misused</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Known is only what the opener says; Not Known is misused as vague topics or the answers.</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Not Known = what the user reveals later, in order and in their own voice.</a:t>
                      </a:r>
                    </a:p>
                  </a:txBody>
                  <a:tcPr marL="91440" marR="91440" marT="36576" marB="36576" anchor="ctr">
                    <a:lnB w="9525" cap="flat">
                      <a:solidFill>
                        <a:srgbClr val="EAD9DD"/>
                      </a:solidFill>
                    </a:lnB>
                    <a:solidFill>
                      <a:srgbClr val="F9F4F5"/>
                    </a:solidFill>
                  </a:tcPr>
                </a:tc>
              </a:tr>
            </a:tbl>
          </a:graphicData>
        </a:graphic>
      </p:graphicFrame>
      <p:sp>
        <p:nvSpPr>
          <p:cNvPr id="7" name="Rounded Rectangle 6"/>
          <p:cNvSpPr/>
          <p:nvPr/>
        </p:nvSpPr>
        <p:spPr>
          <a:xfrm>
            <a:off x="566928" y="5907024"/>
            <a:ext cx="11064240" cy="548640"/>
          </a:xfrm>
          <a:prstGeom prst="roundRect">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6062472"/>
            <a:ext cx="10424160" cy="274320"/>
          </a:xfrm>
          <a:prstGeom prst="rect">
            <a:avLst/>
          </a:prstGeom>
          <a:noFill/>
        </p:spPr>
        <p:txBody>
          <a:bodyPr wrap="square" anchor="ctr" lIns="0" rIns="0" tIns="0" bIns="0">
            <a:spAutoFit/>
          </a:bodyPr>
          <a:lstStyle/>
          <a:p>
            <a:pPr algn="l">
              <a:lnSpc>
                <a:spcPct val="103000"/>
              </a:lnSpc>
              <a:spcBef>
                <a:spcPts val="0"/>
              </a:spcBef>
              <a:spcAft>
                <a:spcPts val="300"/>
              </a:spcAft>
            </a:pPr>
            <a:r>
              <a:rPr sz="1250" b="1" i="0">
                <a:solidFill>
                  <a:srgbClr val="6D2E46"/>
                </a:solidFill>
                <a:latin typeface="Calibri"/>
              </a:rPr>
              <a:t>Before you trust a value:  </a:t>
            </a:r>
            <a:r>
              <a:rPr sz="1250" b="0" i="0">
                <a:solidFill>
                  <a:srgbClr val="6D2E46"/>
                </a:solidFill>
                <a:latin typeface="Calibri"/>
              </a:rPr>
              <a:t>every exact figure in a rubric criterion must trace back to the GTFA or the target outcome.</a:t>
            </a:r>
          </a:p>
        </p:txBody>
      </p:sp>
      <p:sp>
        <p:nvSpPr>
          <p:cNvPr id="9" name="TextBox 8"/>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6B606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A26769"/>
                </a:solidFill>
                <a:latin typeface="Calibri"/>
              </a:rPr>
              <a:t>SECTION 4 · RUBRIC CRITERIA · WRITING EACH LINE</a:t>
            </a:r>
          </a:p>
        </p:txBody>
      </p:sp>
      <p:sp>
        <p:nvSpPr>
          <p:cNvPr id="4" name="TextBox 3"/>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6D2E46"/>
                </a:solidFill>
                <a:latin typeface="Cambria"/>
              </a:rPr>
              <a:t>Binary, observable, present-tense, self-contained</a:t>
            </a:r>
          </a:p>
        </p:txBody>
      </p:sp>
      <p:sp>
        <p:nvSpPr>
          <p:cNvPr id="5" name="TextBox 4"/>
          <p:cNvSpPr txBox="1"/>
          <p:nvPr/>
        </p:nvSpPr>
        <p:spPr>
          <a:xfrm>
            <a:off x="566928" y="1426464"/>
            <a:ext cx="110642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i="0">
                <a:solidFill>
                  <a:srgbClr val="6B6064"/>
                </a:solidFill>
                <a:latin typeface="Calibri"/>
              </a:rPr>
              <a:t>Every criterion is binary, observable, atomic, positive, product-independent, self-contained and written in English, in the simple present tense (States, Includes, Reports…). Weights are only +1, +2, +3.</a:t>
            </a:r>
          </a:p>
        </p:txBody>
      </p:sp>
      <p:graphicFrame>
        <p:nvGraphicFramePr>
          <p:cNvPr id="6" name="Table 5"/>
          <p:cNvGraphicFramePr>
            <a:graphicFrameLocks noGrp="1"/>
          </p:cNvGraphicFramePr>
          <p:nvPr/>
        </p:nvGraphicFramePr>
        <p:xfrm>
          <a:off x="566928" y="1847088"/>
          <a:ext cx="11064240" cy="3867912"/>
        </p:xfrm>
        <a:graphic>
          <a:graphicData uri="http://schemas.openxmlformats.org/drawingml/2006/table">
            <a:tbl>
              <a:tblPr>
                <a:tableStyleId>{2D5ABB26-0587-4C30-8999-92F81FD0307C}</a:tableStyleId>
              </a:tblPr>
              <a:tblGrid>
                <a:gridCol w="2743200"/>
                <a:gridCol w="4160520"/>
                <a:gridCol w="4160520"/>
              </a:tblGrid>
              <a:tr h="347472">
                <a:tc>
                  <a:txBody>
                    <a:bodyPr wrap="square"/>
                    <a:lstStyle/>
                    <a:p>
                      <a:pPr algn="l">
                        <a:lnSpc>
                          <a:spcPct val="100000"/>
                        </a:lnSpc>
                        <a:spcBef>
                          <a:spcPts val="0"/>
                        </a:spcBef>
                        <a:spcAft>
                          <a:spcPts val="100"/>
                        </a:spcAft>
                      </a:pPr>
                      <a:r>
                        <a:rPr sz="1050" b="1" i="0">
                          <a:solidFill>
                            <a:srgbClr val="FFFFFF"/>
                          </a:solidFill>
                          <a:latin typeface="Cambria"/>
                        </a:rPr>
                        <a:t>Error</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Weak example</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Better example</a:t>
                      </a:r>
                    </a:p>
                  </a:txBody>
                  <a:tcPr marL="91440" marR="91440" marT="36576" marB="36576" anchor="ctr">
                    <a:lnB w="9525" cap="flat">
                      <a:solidFill>
                        <a:srgbClr val="6D2E46"/>
                      </a:solidFill>
                    </a:lnB>
                    <a:solidFill>
                      <a:srgbClr val="6D2E46"/>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Not simple present tense</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60" b="0" i="0">
                          <a:solidFill>
                            <a:srgbClr val="A2433E"/>
                          </a:solidFill>
                          <a:latin typeface="Calibri"/>
                        </a:rPr>
                        <a:t>“The response must calculate the net distribution.”</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60" b="0" i="0">
                          <a:solidFill>
                            <a:srgbClr val="5B6E2F"/>
                          </a:solidFill>
                          <a:latin typeface="Calibri"/>
                        </a:rPr>
                        <a:t>“Reports the net distribution as $7,626.60.”</a:t>
                      </a:r>
                    </a:p>
                  </a:txBody>
                  <a:tcPr marL="91440" marR="91440" marT="36576" marB="36576" anchor="ctr">
                    <a:lnB w="9525" cap="flat">
                      <a:solidFill>
                        <a:srgbClr val="EAD9DD"/>
                      </a:solidFill>
                    </a:lnB>
                    <a:solidFill>
                      <a:srgbClr val="FFFFFF"/>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Vague / not self-contained</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60" b="0" i="0">
                          <a:solidFill>
                            <a:srgbClr val="A2433E"/>
                          </a:solidFill>
                          <a:latin typeface="Calibri"/>
                        </a:rPr>
                        <a:t>“Has a professional tone.”  “Calculates the correct tax return.”</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60" b="0" i="0">
                          <a:solidFill>
                            <a:srgbClr val="5B6E2F"/>
                          </a:solidFill>
                          <a:latin typeface="Calibri"/>
                        </a:rPr>
                        <a:t>“Opens with a greeting and closes with the sender's name.”  “Reports the tax return as $1,000.”</a:t>
                      </a:r>
                    </a:p>
                  </a:txBody>
                  <a:tcPr marL="91440" marR="91440" marT="36576" marB="36576" anchor="ctr">
                    <a:lnB w="9525" cap="flat">
                      <a:solidFill>
                        <a:srgbClr val="EAD9DD"/>
                      </a:solidFill>
                    </a:lnB>
                    <a:solidFill>
                      <a:srgbClr val="F9F4F5"/>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Not checkable</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60" b="0" i="0">
                          <a:solidFill>
                            <a:srgbClr val="A2433E"/>
                          </a:solidFill>
                          <a:latin typeface="Calibri"/>
                        </a:rPr>
                        <a:t>“Calculates the net distribution.”</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60" b="0" i="0">
                          <a:solidFill>
                            <a:srgbClr val="5B6E2F"/>
                          </a:solidFill>
                          <a:latin typeface="Calibri"/>
                        </a:rPr>
                        <a:t>“Reports the net distribution as $7,626.60.”</a:t>
                      </a:r>
                    </a:p>
                  </a:txBody>
                  <a:tcPr marL="91440" marR="91440" marT="36576" marB="36576" anchor="ctr">
                    <a:lnB w="9525" cap="flat">
                      <a:solidFill>
                        <a:srgbClr val="EAD9DD"/>
                      </a:solidFill>
                    </a:lnB>
                    <a:solidFill>
                      <a:srgbClr val="FFFFFF"/>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Judges the process</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60" b="0" i="0">
                          <a:solidFill>
                            <a:srgbClr val="A2433E"/>
                          </a:solidFill>
                          <a:latin typeface="Calibri"/>
                        </a:rPr>
                        <a:t>“Reasons carefully about the recipients.”</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60" b="0" i="0">
                          <a:solidFill>
                            <a:srgbClr val="5B6E2F"/>
                          </a:solidFill>
                          <a:latin typeface="Calibri"/>
                        </a:rPr>
                        <a:t>“Addresses the email draft to the named recipient.”</a:t>
                      </a:r>
                    </a:p>
                  </a:txBody>
                  <a:tcPr marL="91440" marR="91440" marT="36576" marB="36576" anchor="ctr">
                    <a:lnB w="9525" cap="flat">
                      <a:solidFill>
                        <a:srgbClr val="EAD9DD"/>
                      </a:solidFill>
                    </a:lnB>
                    <a:solidFill>
                      <a:srgbClr val="F9F4F5"/>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Negatively framed</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60" b="0" i="0">
                          <a:solidFill>
                            <a:srgbClr val="A2433E"/>
                          </a:solidFill>
                          <a:latin typeface="Calibri"/>
                        </a:rPr>
                        <a:t>“No message in Sent…” (a run that does nothing passes).</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60" b="0" i="0">
                          <a:solidFill>
                            <a:srgbClr val="5B6E2F"/>
                          </a:solidFill>
                          <a:latin typeface="Calibri"/>
                        </a:rPr>
                        <a:t>“Leaves an unsent draft addressed to the named recipient.”</a:t>
                      </a:r>
                    </a:p>
                  </a:txBody>
                  <a:tcPr marL="91440" marR="91440" marT="36576" marB="36576" anchor="ctr">
                    <a:lnB w="9525" cap="flat">
                      <a:solidFill>
                        <a:srgbClr val="EAD9DD"/>
                      </a:solidFill>
                    </a:lnB>
                    <a:solidFill>
                      <a:srgbClr val="FFFFFF"/>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Accepts instructions, not a file</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60" b="0" i="0">
                          <a:solidFill>
                            <a:srgbClr val="A2433E"/>
                          </a:solidFill>
                          <a:latin typeface="Calibri"/>
                        </a:rPr>
                        <a:t>“Explains how to structure the reconciliation spreadsheet.”</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60" b="0" i="0">
                          <a:solidFill>
                            <a:srgbClr val="5B6E2F"/>
                          </a:solidFill>
                          <a:latin typeface="Calibri"/>
                        </a:rPr>
                        <a:t>“Provides a spreadsheet file with one row per exhibit.”</a:t>
                      </a:r>
                    </a:p>
                  </a:txBody>
                  <a:tcPr marL="91440" marR="91440" marT="36576" marB="36576" anchor="ctr">
                    <a:lnB w="9525" cap="flat">
                      <a:solidFill>
                        <a:srgbClr val="EAD9DD"/>
                      </a:solidFill>
                    </a:lnB>
                    <a:solidFill>
                      <a:srgbClr val="F9F4F5"/>
                    </a:solidFill>
                  </a:tcPr>
                </a:tc>
              </a:tr>
              <a:tr h="502920">
                <a:tc>
                  <a:txBody>
                    <a:bodyPr wrap="square"/>
                    <a:lstStyle/>
                    <a:p>
                      <a:pPr algn="l">
                        <a:lnSpc>
                          <a:spcPct val="100000"/>
                        </a:lnSpc>
                        <a:spcBef>
                          <a:spcPts val="0"/>
                        </a:spcBef>
                        <a:spcAft>
                          <a:spcPts val="100"/>
                        </a:spcAft>
                      </a:pPr>
                      <a:r>
                        <a:rPr sz="1019" b="1" i="0">
                          <a:solidFill>
                            <a:srgbClr val="6D2E46"/>
                          </a:solidFill>
                          <a:latin typeface="Calibri"/>
                        </a:rPr>
                        <a:t>Rubric not in English</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60" b="0" i="0">
                          <a:solidFill>
                            <a:srgbClr val="A2433E"/>
                          </a:solidFill>
                          <a:latin typeface="Calibri"/>
                        </a:rPr>
                        <a:t>Criteria and justifications written in Japanese, Korean or German.</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60" b="0" i="0">
                          <a:solidFill>
                            <a:srgbClr val="5B6E2F"/>
                          </a:solidFill>
                          <a:latin typeface="Calibri"/>
                        </a:rPr>
                        <a:t>Written in English; keep local names, dates and currency as they appear.</a:t>
                      </a:r>
                    </a:p>
                  </a:txBody>
                  <a:tcPr marL="91440" marR="91440" marT="36576" marB="36576" anchor="ctr">
                    <a:lnB w="9525" cap="flat">
                      <a:solidFill>
                        <a:srgbClr val="EAD9DD"/>
                      </a:solidFill>
                    </a:lnB>
                    <a:solidFill>
                      <a:srgbClr val="FFFFFF"/>
                    </a:solidFill>
                  </a:tcPr>
                </a:tc>
              </a:tr>
            </a:tbl>
          </a:graphicData>
        </a:graphic>
      </p:graphicFrame>
      <p:sp>
        <p:nvSpPr>
          <p:cNvPr id="7" name="Rounded Rectangle 6"/>
          <p:cNvSpPr/>
          <p:nvPr/>
        </p:nvSpPr>
        <p:spPr>
          <a:xfrm>
            <a:off x="566928" y="5797296"/>
            <a:ext cx="11064240" cy="493776"/>
          </a:xfrm>
          <a:prstGeom prst="roundRect">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5952744"/>
            <a:ext cx="10424160" cy="219456"/>
          </a:xfrm>
          <a:prstGeom prst="rect">
            <a:avLst/>
          </a:prstGeom>
          <a:noFill/>
        </p:spPr>
        <p:txBody>
          <a:bodyPr wrap="square" anchor="ctr" lIns="0" rIns="0" tIns="0" bIns="0">
            <a:spAutoFit/>
          </a:bodyPr>
          <a:lstStyle/>
          <a:p>
            <a:pPr algn="l">
              <a:lnSpc>
                <a:spcPct val="103000"/>
              </a:lnSpc>
              <a:spcBef>
                <a:spcPts val="0"/>
              </a:spcBef>
              <a:spcAft>
                <a:spcPts val="300"/>
              </a:spcAft>
            </a:pPr>
            <a:r>
              <a:rPr sz="1250" b="1" i="0">
                <a:solidFill>
                  <a:srgbClr val="6D2E46"/>
                </a:solidFill>
                <a:latin typeface="Calibri"/>
              </a:rPr>
              <a:t>The two questions for every line:  </a:t>
            </a:r>
            <a:r>
              <a:rPr sz="1250" b="0" i="0">
                <a:solidFill>
                  <a:srgbClr val="6D2E46"/>
                </a:solidFill>
                <a:latin typeface="Calibri"/>
              </a:rPr>
              <a:t>would a perfect, honest response pass this? And would two people reading only the prompt agree on borderline work?</a:t>
            </a:r>
          </a:p>
        </p:txBody>
      </p:sp>
      <p:sp>
        <p:nvSpPr>
          <p:cNvPr id="9" name="TextBox 8"/>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6B606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A26769"/>
                </a:solidFill>
                <a:latin typeface="Calibri"/>
              </a:rPr>
              <a:t>SECTION 4 · RUBRIC CRITERIA · COVERAGE &amp; WEIGHTS</a:t>
            </a:r>
          </a:p>
        </p:txBody>
      </p:sp>
      <p:sp>
        <p:nvSpPr>
          <p:cNvPr id="4" name="TextBox 3"/>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6D2E46"/>
                </a:solidFill>
                <a:latin typeface="Cambria"/>
              </a:rPr>
              <a:t>Cover every ask, weight it honestly, spread the categories</a:t>
            </a:r>
          </a:p>
        </p:txBody>
      </p:sp>
      <p:sp>
        <p:nvSpPr>
          <p:cNvPr id="5" name="TextBox 4"/>
          <p:cNvSpPr txBox="1"/>
          <p:nvPr/>
        </p:nvSpPr>
        <p:spPr>
          <a:xfrm>
            <a:off x="566928" y="1426464"/>
            <a:ext cx="110642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i="0">
                <a:solidFill>
                  <a:srgbClr val="6B6064"/>
                </a:solidFill>
                <a:latin typeface="Calibri"/>
              </a:rPr>
              <a:t>10–30 criteria. Trace each to an explicit or implied ask, and tag each to one of the six Outcome Quality categories (1.1–1.6).</a:t>
            </a:r>
          </a:p>
        </p:txBody>
      </p:sp>
      <p:sp>
        <p:nvSpPr>
          <p:cNvPr id="6" name="Rounded Rectangle 5"/>
          <p:cNvSpPr/>
          <p:nvPr/>
        </p:nvSpPr>
        <p:spPr>
          <a:xfrm>
            <a:off x="566928" y="1938528"/>
            <a:ext cx="5394960" cy="3246120"/>
          </a:xfrm>
          <a:prstGeom prst="round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139696"/>
            <a:ext cx="4846320" cy="274320"/>
          </a:xfrm>
          <a:prstGeom prst="rect">
            <a:avLst/>
          </a:prstGeom>
          <a:noFill/>
        </p:spPr>
        <p:txBody>
          <a:bodyPr wrap="square" anchor="t" lIns="0" rIns="0" tIns="0" bIns="0">
            <a:spAutoFit/>
          </a:bodyPr>
          <a:lstStyle/>
          <a:p>
            <a:pPr algn="l">
              <a:lnSpc>
                <a:spcPct val="100000"/>
              </a:lnSpc>
              <a:spcBef>
                <a:spcPts val="0"/>
              </a:spcBef>
              <a:spcAft>
                <a:spcPts val="300"/>
              </a:spcAft>
            </a:pPr>
            <a:r>
              <a:rPr sz="1150" b="1" i="0">
                <a:solidFill>
                  <a:srgbClr val="6D2E46"/>
                </a:solidFill>
                <a:latin typeface="Calibri"/>
              </a:rPr>
              <a:t>COVERAGE</a:t>
            </a:r>
          </a:p>
        </p:txBody>
      </p:sp>
      <p:sp>
        <p:nvSpPr>
          <p:cNvPr id="8" name="TextBox 7"/>
          <p:cNvSpPr txBox="1"/>
          <p:nvPr/>
        </p:nvSpPr>
        <p:spPr>
          <a:xfrm>
            <a:off x="841248" y="2523744"/>
            <a:ext cx="4846320" cy="2514600"/>
          </a:xfrm>
          <a:prstGeom prst="rect">
            <a:avLst/>
          </a:prstGeom>
          <a:noFill/>
        </p:spPr>
        <p:txBody>
          <a:bodyPr wrap="square" anchor="t" lIns="0" rIns="0" tIns="0" bIns="0">
            <a:spAutoFit/>
          </a:bodyPr>
          <a:lstStyle/>
          <a:p>
            <a:pPr algn="l">
              <a:lnSpc>
                <a:spcPct val="103000"/>
              </a:lnSpc>
              <a:spcBef>
                <a:spcPts val="0"/>
              </a:spcBef>
              <a:spcAft>
                <a:spcPts val="600"/>
              </a:spcAft>
            </a:pPr>
            <a:r>
              <a:rPr sz="1080" b="1" i="0">
                <a:solidFill>
                  <a:srgbClr val="6D2E46"/>
                </a:solidFill>
                <a:latin typeface="Calibri"/>
              </a:rPr>
              <a:t>•  Punishes the right answer  </a:t>
            </a:r>
            <a:r>
              <a:rPr sz="1080" b="0" i="0">
                <a:solidFill>
                  <a:srgbClr val="2B2126"/>
                </a:solidFill>
                <a:latin typeface="Calibri"/>
              </a:rPr>
              <a:t>requires what the user later ruled out. A perfect, honest answer must be able to pass.</a:t>
            </a:r>
          </a:p>
          <a:p>
            <a:pPr algn="l">
              <a:lnSpc>
                <a:spcPct val="103000"/>
              </a:lnSpc>
              <a:spcBef>
                <a:spcPts val="0"/>
              </a:spcBef>
              <a:spcAft>
                <a:spcPts val="600"/>
              </a:spcAft>
            </a:pPr>
            <a:r>
              <a:rPr sz="1080" b="1" i="0">
                <a:solidFill>
                  <a:srgbClr val="6D2E46"/>
                </a:solidFill>
                <a:latin typeface="Calibri"/>
              </a:rPr>
              <a:t>•  Asks for something nobody asked  </a:t>
            </a:r>
            <a:r>
              <a:rPr sz="1080" b="0" i="0">
                <a:solidFill>
                  <a:srgbClr val="2B2126"/>
                </a:solidFill>
                <a:latin typeface="Calibri"/>
              </a:rPr>
              <a:t>trace every criterion to a prompt ask; remove the rest.</a:t>
            </a:r>
          </a:p>
          <a:p>
            <a:pPr algn="l">
              <a:lnSpc>
                <a:spcPct val="103000"/>
              </a:lnSpc>
              <a:spcBef>
                <a:spcPts val="0"/>
              </a:spcBef>
              <a:spcAft>
                <a:spcPts val="600"/>
              </a:spcAft>
            </a:pPr>
            <a:r>
              <a:rPr sz="1080" b="1" i="0">
                <a:solidFill>
                  <a:srgbClr val="6D2E46"/>
                </a:solidFill>
                <a:latin typeface="Calibri"/>
              </a:rPr>
              <a:t>•  Missing critical criteria  </a:t>
            </a:r>
            <a:r>
              <a:rPr sz="1080" b="0" i="0">
                <a:solidFill>
                  <a:srgbClr val="2B2126"/>
                </a:solidFill>
                <a:latin typeface="Calibri"/>
              </a:rPr>
              <a:t>nothing checks “left unsent”, the recipient, or “nothing filed.”</a:t>
            </a:r>
          </a:p>
          <a:p>
            <a:pPr algn="l">
              <a:lnSpc>
                <a:spcPct val="103000"/>
              </a:lnSpc>
              <a:spcBef>
                <a:spcPts val="0"/>
              </a:spcBef>
              <a:spcAft>
                <a:spcPts val="600"/>
              </a:spcAft>
            </a:pPr>
            <a:r>
              <a:rPr sz="1080" b="1" i="0">
                <a:solidFill>
                  <a:srgbClr val="6D2E46"/>
                </a:solidFill>
                <a:latin typeface="Calibri"/>
              </a:rPr>
              <a:t>•  Value not traceable  </a:t>
            </a:r>
            <a:r>
              <a:rPr sz="1080" b="0" i="0">
                <a:solidFill>
                  <a:srgbClr val="2B2126"/>
                </a:solidFill>
                <a:latin typeface="Calibri"/>
              </a:rPr>
              <a:t>every exact value appears in, or is worked out from, a file / GTFA / deliverables.</a:t>
            </a:r>
          </a:p>
        </p:txBody>
      </p:sp>
      <p:sp>
        <p:nvSpPr>
          <p:cNvPr id="9" name="Rounded Rectangle 8"/>
          <p:cNvSpPr/>
          <p:nvPr/>
        </p:nvSpPr>
        <p:spPr>
          <a:xfrm>
            <a:off x="6236208" y="1938528"/>
            <a:ext cx="5394960" cy="3246120"/>
          </a:xfrm>
          <a:prstGeom prst="round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0528" y="2139696"/>
            <a:ext cx="4846320" cy="274320"/>
          </a:xfrm>
          <a:prstGeom prst="rect">
            <a:avLst/>
          </a:prstGeom>
          <a:noFill/>
        </p:spPr>
        <p:txBody>
          <a:bodyPr wrap="square" anchor="t" lIns="0" rIns="0" tIns="0" bIns="0">
            <a:spAutoFit/>
          </a:bodyPr>
          <a:lstStyle/>
          <a:p>
            <a:pPr algn="l">
              <a:lnSpc>
                <a:spcPct val="100000"/>
              </a:lnSpc>
              <a:spcBef>
                <a:spcPts val="0"/>
              </a:spcBef>
              <a:spcAft>
                <a:spcPts val="300"/>
              </a:spcAft>
            </a:pPr>
            <a:r>
              <a:rPr sz="1150" b="1" i="0">
                <a:solidFill>
                  <a:srgbClr val="6D2E46"/>
                </a:solidFill>
                <a:latin typeface="Calibri"/>
              </a:rPr>
              <a:t>WEIGHTS, ATOMICITY &amp; CATEGORIES</a:t>
            </a:r>
          </a:p>
        </p:txBody>
      </p:sp>
      <p:sp>
        <p:nvSpPr>
          <p:cNvPr id="11" name="TextBox 10"/>
          <p:cNvSpPr txBox="1"/>
          <p:nvPr/>
        </p:nvSpPr>
        <p:spPr>
          <a:xfrm>
            <a:off x="6510528" y="2523744"/>
            <a:ext cx="4846320" cy="2514600"/>
          </a:xfrm>
          <a:prstGeom prst="rect">
            <a:avLst/>
          </a:prstGeom>
          <a:noFill/>
        </p:spPr>
        <p:txBody>
          <a:bodyPr wrap="square" anchor="t" lIns="0" rIns="0" tIns="0" bIns="0">
            <a:spAutoFit/>
          </a:bodyPr>
          <a:lstStyle/>
          <a:p>
            <a:pPr algn="l">
              <a:lnSpc>
                <a:spcPct val="103000"/>
              </a:lnSpc>
              <a:spcBef>
                <a:spcPts val="0"/>
              </a:spcBef>
              <a:spcAft>
                <a:spcPts val="600"/>
              </a:spcAft>
            </a:pPr>
            <a:r>
              <a:rPr sz="1080" b="1" i="0">
                <a:solidFill>
                  <a:srgbClr val="6D2E46"/>
                </a:solidFill>
                <a:latin typeface="Calibri"/>
              </a:rPr>
              <a:t>•  Flat or inflated weights  </a:t>
            </a:r>
            <a:r>
              <a:rPr sz="1080" b="0" i="0">
                <a:solidFill>
                  <a:srgbClr val="2B2126"/>
                </a:solidFill>
                <a:latin typeface="Calibri"/>
              </a:rPr>
              <a:t>if most criteria are +3, weight stops separating essential from nice-to-have.</a:t>
            </a:r>
          </a:p>
          <a:p>
            <a:pPr algn="l">
              <a:lnSpc>
                <a:spcPct val="103000"/>
              </a:lnSpc>
              <a:spcBef>
                <a:spcPts val="0"/>
              </a:spcBef>
              <a:spcAft>
                <a:spcPts val="600"/>
              </a:spcAft>
            </a:pPr>
            <a:r>
              <a:rPr sz="1080" b="1" i="0">
                <a:solidFill>
                  <a:srgbClr val="6D2E46"/>
                </a:solidFill>
                <a:latin typeface="Calibri"/>
              </a:rPr>
              <a:t>•  Bundled / overlapping  </a:t>
            </a:r>
            <a:r>
              <a:rPr sz="1080" b="0" i="0">
                <a:solidFill>
                  <a:srgbClr val="2B2126"/>
                </a:solidFill>
                <a:latin typeface="Calibri"/>
              </a:rPr>
              <a:t>split “and” chains; merge true duplicates into one criterion.</a:t>
            </a:r>
          </a:p>
          <a:p>
            <a:pPr algn="l">
              <a:lnSpc>
                <a:spcPct val="103000"/>
              </a:lnSpc>
              <a:spcBef>
                <a:spcPts val="0"/>
              </a:spcBef>
              <a:spcAft>
                <a:spcPts val="600"/>
              </a:spcAft>
            </a:pPr>
            <a:r>
              <a:rPr sz="1080" b="1" i="0">
                <a:solidFill>
                  <a:srgbClr val="6D2E46"/>
                </a:solidFill>
                <a:latin typeface="Calibri"/>
              </a:rPr>
              <a:t>•  Clustered categories  </a:t>
            </a:r>
            <a:r>
              <a:rPr sz="1080" b="0" i="0">
                <a:solidFill>
                  <a:srgbClr val="2B2126"/>
                </a:solidFill>
                <a:latin typeface="Calibri"/>
              </a:rPr>
              <a:t>spread across all six sub-dimensions (1.1–1.6).</a:t>
            </a:r>
          </a:p>
          <a:p>
            <a:pPr algn="l">
              <a:lnSpc>
                <a:spcPct val="103000"/>
              </a:lnSpc>
              <a:spcBef>
                <a:spcPts val="0"/>
              </a:spcBef>
              <a:spcAft>
                <a:spcPts val="600"/>
              </a:spcAft>
            </a:pPr>
            <a:r>
              <a:rPr sz="1080" b="1" i="0">
                <a:solidFill>
                  <a:srgbClr val="6D2E46"/>
                </a:solidFill>
                <a:latin typeface="Calibri"/>
              </a:rPr>
              <a:t>•  Grading non-outcomes  </a:t>
            </a:r>
            <a:r>
              <a:rPr sz="1080" b="0" i="0">
                <a:solidFill>
                  <a:srgbClr val="2B2126"/>
                </a:solidFill>
                <a:latin typeface="Calibri"/>
              </a:rPr>
              <a:t>no criteria for reasoning, turn count or conversational style.</a:t>
            </a:r>
          </a:p>
        </p:txBody>
      </p:sp>
      <p:sp>
        <p:nvSpPr>
          <p:cNvPr id="12" name="Rounded Rectangle 11"/>
          <p:cNvSpPr/>
          <p:nvPr/>
        </p:nvSpPr>
        <p:spPr>
          <a:xfrm>
            <a:off x="566928" y="5394960"/>
            <a:ext cx="11064240" cy="658368"/>
          </a:xfrm>
          <a:prstGeom prst="roundRect">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5550408"/>
            <a:ext cx="10424160" cy="384048"/>
          </a:xfrm>
          <a:prstGeom prst="rect">
            <a:avLst/>
          </a:prstGeom>
          <a:noFill/>
        </p:spPr>
        <p:txBody>
          <a:bodyPr wrap="square" anchor="ctr" lIns="0" rIns="0" tIns="0" bIns="0">
            <a:spAutoFit/>
          </a:bodyPr>
          <a:lstStyle/>
          <a:p>
            <a:pPr algn="l">
              <a:lnSpc>
                <a:spcPct val="103000"/>
              </a:lnSpc>
              <a:spcBef>
                <a:spcPts val="0"/>
              </a:spcBef>
              <a:spcAft>
                <a:spcPts val="300"/>
              </a:spcAft>
            </a:pPr>
            <a:r>
              <a:rPr sz="1250" b="1" i="0">
                <a:solidFill>
                  <a:srgbClr val="6D2E46"/>
                </a:solidFill>
                <a:latin typeface="Calibri"/>
              </a:rPr>
              <a:t>Run the “looks-correct-but-wrong” test:  </a:t>
            </a:r>
            <a:r>
              <a:rPr sz="1250" b="0" i="0">
                <a:solidFill>
                  <a:srgbClr val="6D2E46"/>
                </a:solidFill>
                <a:latin typeface="Calibri"/>
              </a:rPr>
              <a:t>imagine an output with the right numbers but the draft was sent. If your rubric would pass it, add the criterion that catches it.</a:t>
            </a:r>
          </a:p>
        </p:txBody>
      </p:sp>
      <p:sp>
        <p:nvSpPr>
          <p:cNvPr id="14" name="TextBox 13"/>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6B606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A26769"/>
                </a:solidFill>
                <a:latin typeface="Calibri"/>
              </a:rPr>
              <a:t>SECTION 5 · SIMPLIFIED RUN</a:t>
            </a:r>
          </a:p>
        </p:txBody>
      </p:sp>
      <p:sp>
        <p:nvSpPr>
          <p:cNvPr id="4" name="TextBox 3"/>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6D2E46"/>
                </a:solidFill>
                <a:latin typeface="Cambria"/>
              </a:rPr>
              <a:t>A clean, unsteered run, graded on what was really produced</a:t>
            </a:r>
          </a:p>
        </p:txBody>
      </p:sp>
      <p:sp>
        <p:nvSpPr>
          <p:cNvPr id="5" name="TextBox 4"/>
          <p:cNvSpPr txBox="1"/>
          <p:nvPr/>
        </p:nvSpPr>
        <p:spPr>
          <a:xfrm>
            <a:off x="566928" y="1426464"/>
            <a:ext cx="110642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i="0">
                <a:solidFill>
                  <a:srgbClr val="6B6064"/>
                </a:solidFill>
                <a:latin typeface="Calibri"/>
              </a:rPr>
              <a:t>A complexity test of your item: give the model the easiest path in 1–3 turns and check it still fails most of your rubric. Grade only delivered work.</a:t>
            </a:r>
          </a:p>
        </p:txBody>
      </p:sp>
      <p:graphicFrame>
        <p:nvGraphicFramePr>
          <p:cNvPr id="6" name="Table 5"/>
          <p:cNvGraphicFramePr>
            <a:graphicFrameLocks noGrp="1"/>
          </p:cNvGraphicFramePr>
          <p:nvPr/>
        </p:nvGraphicFramePr>
        <p:xfrm>
          <a:off x="566928" y="1810512"/>
          <a:ext cx="11064239" cy="3931920"/>
        </p:xfrm>
        <a:graphic>
          <a:graphicData uri="http://schemas.openxmlformats.org/drawingml/2006/table">
            <a:tbl>
              <a:tblPr>
                <a:tableStyleId>{2D5ABB26-0587-4C30-8999-92F81FD0307C}</a:tableStyleId>
              </a:tblPr>
              <a:tblGrid>
                <a:gridCol w="2514600"/>
                <a:gridCol w="3977639"/>
                <a:gridCol w="4572000"/>
              </a:tblGrid>
              <a:tr h="347472">
                <a:tc>
                  <a:txBody>
                    <a:bodyPr wrap="square"/>
                    <a:lstStyle/>
                    <a:p>
                      <a:pPr algn="l">
                        <a:lnSpc>
                          <a:spcPct val="100000"/>
                        </a:lnSpc>
                        <a:spcBef>
                          <a:spcPts val="0"/>
                        </a:spcBef>
                        <a:spcAft>
                          <a:spcPts val="100"/>
                        </a:spcAft>
                      </a:pPr>
                      <a:r>
                        <a:rPr sz="1050" b="1" i="0">
                          <a:solidFill>
                            <a:srgbClr val="FFFFFF"/>
                          </a:solidFill>
                          <a:latin typeface="Cambria"/>
                        </a:rPr>
                        <a:t>Error</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Why it fails</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Fix</a:t>
                      </a:r>
                    </a:p>
                  </a:txBody>
                  <a:tcPr marL="91440" marR="91440" marT="36576" marB="36576" anchor="ctr">
                    <a:lnB w="9525" cap="flat">
                      <a:solidFill>
                        <a:srgbClr val="6D2E46"/>
                      </a:solidFill>
                    </a:lnB>
                    <a:solidFill>
                      <a:srgbClr val="6D2E46"/>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Invalid simplified run</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It repeats the opener, uses an old chat, adds nudges, has no share link, or ran before the prompt was final.</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Fresh chat on a reset account. One full request for every deliverable. Save a public share link. Do not steer.</a:t>
                      </a:r>
                    </a:p>
                  </a:txBody>
                  <a:tcPr marL="91440" marR="91440" marT="36576" marB="36576" anchor="ctr">
                    <a:lnB w="9525" cap="flat">
                      <a:solidFill>
                        <a:srgbClr val="EAD9DD"/>
                      </a:solidFill>
                    </a:lnB>
                    <a:solidFill>
                      <a:srgbClr val="FFFFFF"/>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Item too easy (over 40%)</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The score doesn't show real difficulty, including a near-0% only because a tool failed.</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Harden with real traps from the files. Never delete, split or pad criteria to hit the number.</a:t>
                      </a:r>
                    </a:p>
                  </a:txBody>
                  <a:tcPr marL="91440" marR="91440" marT="36576" marB="36576" anchor="ctr">
                    <a:lnB w="9525" cap="flat">
                      <a:solidFill>
                        <a:srgbClr val="EAD9DD"/>
                      </a:solidFill>
                    </a:lnB>
                    <a:solidFill>
                      <a:srgbClr val="F9F4F5"/>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Not resetting first</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Leftover changes from earlier runs make results meaningless.</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Reset before each run, never after or mid-task.</a:t>
                      </a:r>
                    </a:p>
                  </a:txBody>
                  <a:tcPr marL="91440" marR="91440" marT="36576" marB="36576" anchor="ctr">
                    <a:lnB w="9525" cap="flat">
                      <a:solidFill>
                        <a:srgbClr val="EAD9DD"/>
                      </a:solidFill>
                    </a:lnB>
                    <a:solidFill>
                      <a:srgbClr val="FFFFFF"/>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Passing work never produced</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The model described a draft or file in chat and the criterion was still marked Pass.</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Grade only what was delivered. “I've created the draft” with no visible draft is a claim, not an artifact.</a:t>
                      </a:r>
                    </a:p>
                  </a:txBody>
                  <a:tcPr marL="91440" marR="91440" marT="36576" marB="36576" anchor="ctr">
                    <a:lnB w="9525" cap="flat">
                      <a:solidFill>
                        <a:srgbClr val="EAD9DD"/>
                      </a:solidFill>
                    </a:lnB>
                    <a:solidFill>
                      <a:srgbClr val="F9F4F5"/>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Contradictory ratings</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“Draft was saved” is Fail, yet “Draft contains X” is Pass.</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A child criterion can't pass when its parent failed, so check before you submit.</a:t>
                      </a:r>
                    </a:p>
                  </a:txBody>
                  <a:tcPr marL="91440" marR="91440" marT="36576" marB="36576" anchor="ctr">
                    <a:lnB w="9525" cap="flat">
                      <a:solidFill>
                        <a:srgbClr val="EAD9DD"/>
                      </a:solidFill>
                    </a:lnB>
                    <a:solidFill>
                      <a:srgbClr val="FFFFFF"/>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Failing correct content</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Fail marked on lines the output plainly satisfies, hiding how easy the item is.</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Re-read the output line by line and quote the evidence for every rating.</a:t>
                      </a:r>
                    </a:p>
                  </a:txBody>
                  <a:tcPr marL="91440" marR="91440" marT="36576" marB="36576" anchor="ctr">
                    <a:lnB w="9525" cap="flat">
                      <a:solidFill>
                        <a:srgbClr val="EAD9DD"/>
                      </a:solidFill>
                    </a:lnB>
                    <a:solidFill>
                      <a:srgbClr val="F9F4F5"/>
                    </a:solidFill>
                  </a:tcPr>
                </a:tc>
              </a:tr>
              <a:tr h="512064">
                <a:tc>
                  <a:txBody>
                    <a:bodyPr wrap="square"/>
                    <a:lstStyle/>
                    <a:p>
                      <a:pPr algn="l">
                        <a:lnSpc>
                          <a:spcPct val="100000"/>
                        </a:lnSpc>
                        <a:spcBef>
                          <a:spcPts val="0"/>
                        </a:spcBef>
                        <a:spcAft>
                          <a:spcPts val="100"/>
                        </a:spcAft>
                      </a:pPr>
                      <a:r>
                        <a:rPr sz="1019" b="1" i="0">
                          <a:solidFill>
                            <a:srgbClr val="6D2E46"/>
                          </a:solidFill>
                          <a:latin typeface="Calibri"/>
                        </a:rPr>
                        <a:t>Empty justifications</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No written reason for a rating, so nobody can check the grade.</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Write one line of evidence per rating: a quote, or what is missing.</a:t>
                      </a:r>
                    </a:p>
                  </a:txBody>
                  <a:tcPr marL="91440" marR="91440" marT="36576" marB="36576" anchor="ctr">
                    <a:lnB w="9525" cap="flat">
                      <a:solidFill>
                        <a:srgbClr val="EAD9DD"/>
                      </a:solidFill>
                    </a:lnB>
                    <a:solidFill>
                      <a:srgbClr val="FFFFFF"/>
                    </a:solidFill>
                  </a:tcPr>
                </a:tc>
              </a:tr>
            </a:tbl>
          </a:graphicData>
        </a:graphic>
      </p:graphicFrame>
      <p:sp>
        <p:nvSpPr>
          <p:cNvPr id="7" name="Rounded Rectangle 6"/>
          <p:cNvSpPr/>
          <p:nvPr/>
        </p:nvSpPr>
        <p:spPr>
          <a:xfrm>
            <a:off x="566928" y="5852160"/>
            <a:ext cx="11064240" cy="512064"/>
          </a:xfrm>
          <a:prstGeom prst="roundRect">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6007608"/>
            <a:ext cx="10424160" cy="237744"/>
          </a:xfrm>
          <a:prstGeom prst="rect">
            <a:avLst/>
          </a:prstGeom>
          <a:noFill/>
        </p:spPr>
        <p:txBody>
          <a:bodyPr wrap="square" anchor="ctr" lIns="0" rIns="0" tIns="0" bIns="0">
            <a:spAutoFit/>
          </a:bodyPr>
          <a:lstStyle/>
          <a:p>
            <a:pPr algn="l">
              <a:lnSpc>
                <a:spcPct val="103000"/>
              </a:lnSpc>
              <a:spcBef>
                <a:spcPts val="0"/>
              </a:spcBef>
              <a:spcAft>
                <a:spcPts val="300"/>
              </a:spcAft>
            </a:pPr>
            <a:r>
              <a:rPr sz="1250" b="1" i="0">
                <a:solidFill>
                  <a:srgbClr val="6D2E46"/>
                </a:solidFill>
                <a:latin typeface="Calibri"/>
              </a:rPr>
              <a:t>Over 40%? Fix the item, not the measurement.  </a:t>
            </a:r>
            <a:r>
              <a:rPr sz="1250" b="0" i="0">
                <a:solidFill>
                  <a:srgbClr val="6D2E46"/>
                </a:solidFill>
                <a:latin typeface="Calibri"/>
              </a:rPr>
              <a:t>The percentage is weighted: failing a +3 criterion moves it far more than a +1.</a:t>
            </a:r>
          </a:p>
        </p:txBody>
      </p:sp>
      <p:sp>
        <p:nvSpPr>
          <p:cNvPr id="9" name="TextBox 8"/>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6B606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A26769"/>
                </a:solidFill>
                <a:latin typeface="Calibri"/>
              </a:rPr>
              <a:t>EMERGING ERRORS · WHAT REVIEWERS ARE NOW CATCHING</a:t>
            </a:r>
          </a:p>
        </p:txBody>
      </p:sp>
      <p:sp>
        <p:nvSpPr>
          <p:cNvPr id="4" name="TextBox 3"/>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6D2E46"/>
                </a:solidFill>
                <a:latin typeface="Cambria"/>
              </a:rPr>
              <a:t>Newly seen: valid runs, honest grading, integrity</a:t>
            </a:r>
          </a:p>
        </p:txBody>
      </p:sp>
      <p:sp>
        <p:nvSpPr>
          <p:cNvPr id="5" name="TextBox 4"/>
          <p:cNvSpPr txBox="1"/>
          <p:nvPr/>
        </p:nvSpPr>
        <p:spPr>
          <a:xfrm>
            <a:off x="566928" y="1426464"/>
            <a:ext cx="110642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i="0">
                <a:solidFill>
                  <a:srgbClr val="6B6064"/>
                </a:solidFill>
                <a:latin typeface="Calibri"/>
              </a:rPr>
              <a:t>Recent send-backs cluster here. Several are integrity issues that go on the disable list, not the rework pile.</a:t>
            </a:r>
          </a:p>
        </p:txBody>
      </p:sp>
      <p:graphicFrame>
        <p:nvGraphicFramePr>
          <p:cNvPr id="6" name="Table 5"/>
          <p:cNvGraphicFramePr>
            <a:graphicFrameLocks noGrp="1"/>
          </p:cNvGraphicFramePr>
          <p:nvPr/>
        </p:nvGraphicFramePr>
        <p:xfrm>
          <a:off x="566928" y="1901952"/>
          <a:ext cx="11064240" cy="3401568"/>
        </p:xfrm>
        <a:graphic>
          <a:graphicData uri="http://schemas.openxmlformats.org/drawingml/2006/table">
            <a:tbl>
              <a:tblPr>
                <a:tableStyleId>{2D5ABB26-0587-4C30-8999-92F81FD0307C}</a:tableStyleId>
              </a:tblPr>
              <a:tblGrid>
                <a:gridCol w="2743200"/>
                <a:gridCol w="4206240"/>
                <a:gridCol w="4114800"/>
              </a:tblGrid>
              <a:tr h="402336">
                <a:tc>
                  <a:txBody>
                    <a:bodyPr wrap="square"/>
                    <a:lstStyle/>
                    <a:p>
                      <a:pPr algn="l">
                        <a:lnSpc>
                          <a:spcPct val="100000"/>
                        </a:lnSpc>
                        <a:spcBef>
                          <a:spcPts val="0"/>
                        </a:spcBef>
                        <a:spcAft>
                          <a:spcPts val="100"/>
                        </a:spcAft>
                      </a:pPr>
                      <a:r>
                        <a:rPr sz="1050" b="1" i="0">
                          <a:solidFill>
                            <a:srgbClr val="FFFFFF"/>
                          </a:solidFill>
                          <a:latin typeface="Cambria"/>
                        </a:rPr>
                        <a:t>Error</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What it looks like</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Fix</a:t>
                      </a:r>
                    </a:p>
                  </a:txBody>
                  <a:tcPr marL="91440" marR="91440" marT="36576" marB="36576" anchor="ctr">
                    <a:lnB w="9525" cap="flat">
                      <a:solidFill>
                        <a:srgbClr val="6D2E46"/>
                      </a:solidFill>
                    </a:lnB>
                    <a:solidFill>
                      <a:srgbClr val="6D2E46"/>
                    </a:solidFill>
                  </a:tcPr>
                </a:tc>
              </a:tr>
              <a:tr h="749808">
                <a:tc>
                  <a:txBody>
                    <a:bodyPr wrap="square"/>
                    <a:lstStyle/>
                    <a:p>
                      <a:pPr algn="l">
                        <a:lnSpc>
                          <a:spcPct val="100000"/>
                        </a:lnSpc>
                        <a:spcBef>
                          <a:spcPts val="0"/>
                        </a:spcBef>
                        <a:spcAft>
                          <a:spcPts val="100"/>
                        </a:spcAft>
                      </a:pPr>
                      <a:r>
                        <a:rPr sz="1019" b="1" i="0">
                          <a:solidFill>
                            <a:srgbClr val="6D2E46"/>
                          </a:solidFill>
                          <a:latin typeface="Calibri"/>
                        </a:rPr>
                        <a:t>Broken run</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The model can't reach the account or uses another persona's; it invents data (“Alpha/Beta”, “[domaine]” placeholders) or tells the user to do the work.</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Re-run on a reset, correct account. Every entity must come from the universe.</a:t>
                      </a:r>
                    </a:p>
                  </a:txBody>
                  <a:tcPr marL="91440" marR="91440" marT="36576" marB="36576" anchor="ctr">
                    <a:lnB w="9525" cap="flat">
                      <a:solidFill>
                        <a:srgbClr val="EAD9DD"/>
                      </a:solidFill>
                    </a:lnB>
                    <a:solidFill>
                      <a:srgbClr val="FFFFFF"/>
                    </a:solidFill>
                  </a:tcPr>
                </a:tc>
              </a:tr>
              <a:tr h="749808">
                <a:tc>
                  <a:txBody>
                    <a:bodyPr wrap="square"/>
                    <a:lstStyle/>
                    <a:p>
                      <a:pPr algn="l">
                        <a:lnSpc>
                          <a:spcPct val="100000"/>
                        </a:lnSpc>
                        <a:spcBef>
                          <a:spcPts val="0"/>
                        </a:spcBef>
                        <a:spcAft>
                          <a:spcPts val="100"/>
                        </a:spcAft>
                      </a:pPr>
                      <a:r>
                        <a:rPr sz="1019" b="1" i="0">
                          <a:solidFill>
                            <a:srgbClr val="6D2E46"/>
                          </a:solidFill>
                          <a:latin typeface="Calibri"/>
                        </a:rPr>
                        <a:t>Evidence not from this run</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A chat PDF, screenshots or GTFA taken from another chat; a “turn” record that is the model's own reply; or input files that are actually the model's output.</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Everything comes from this one run: turns are the prompts you sent, inputs are genuine source files, and the PDF, screenshots and GTFA match this chat.</a:t>
                      </a:r>
                    </a:p>
                  </a:txBody>
                  <a:tcPr marL="91440" marR="91440" marT="36576" marB="36576" anchor="ctr">
                    <a:lnB w="9525" cap="flat">
                      <a:solidFill>
                        <a:srgbClr val="EAD9DD"/>
                      </a:solidFill>
                    </a:lnB>
                    <a:solidFill>
                      <a:srgbClr val="F9F4F5"/>
                    </a:solidFill>
                  </a:tcPr>
                </a:tc>
              </a:tr>
              <a:tr h="749808">
                <a:tc>
                  <a:txBody>
                    <a:bodyPr wrap="square"/>
                    <a:lstStyle/>
                    <a:p>
                      <a:pPr algn="l">
                        <a:lnSpc>
                          <a:spcPct val="100000"/>
                        </a:lnSpc>
                        <a:spcBef>
                          <a:spcPts val="0"/>
                        </a:spcBef>
                        <a:spcAft>
                          <a:spcPts val="100"/>
                        </a:spcAft>
                      </a:pPr>
                      <a:r>
                        <a:rPr sz="1019" b="1" i="0">
                          <a:solidFill>
                            <a:srgbClr val="6D2E46"/>
                          </a:solidFill>
                          <a:latin typeface="Calibri"/>
                        </a:rPr>
                        <a:t>Passes the gate only on paper</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Filed under 40%, but 41–93% when regraded honestly, often by marking visible draft or calendar cards as Fail because they look like placeholders in the PDF.</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Grade cards from the share page, where they are visible. Harden the item; never grade down, because above 40% is sent back.</a:t>
                      </a:r>
                    </a:p>
                  </a:txBody>
                  <a:tcPr marL="91440" marR="91440" marT="36576" marB="36576" anchor="ctr">
                    <a:lnB w="9525" cap="flat">
                      <a:solidFill>
                        <a:srgbClr val="EAD9DD"/>
                      </a:solidFill>
                    </a:lnB>
                    <a:solidFill>
                      <a:srgbClr val="FFFFFF"/>
                    </a:solidFill>
                  </a:tcPr>
                </a:tc>
              </a:tr>
              <a:tr h="749808">
                <a:tc>
                  <a:txBody>
                    <a:bodyPr wrap="square"/>
                    <a:lstStyle/>
                    <a:p>
                      <a:pPr algn="l">
                        <a:lnSpc>
                          <a:spcPct val="100000"/>
                        </a:lnSpc>
                        <a:spcBef>
                          <a:spcPts val="0"/>
                        </a:spcBef>
                        <a:spcAft>
                          <a:spcPts val="100"/>
                        </a:spcAft>
                      </a:pPr>
                      <a:r>
                        <a:rPr sz="1019" b="1" i="0">
                          <a:solidFill>
                            <a:srgbClr val="6D2E46"/>
                          </a:solidFill>
                          <a:latin typeface="Calibri"/>
                        </a:rPr>
                        <a:t>Integrity violations</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A figure fabricated so a total matches; a self-check marked “full” while the automated check lists gaps; grades flipped to hold the gate; Turn 1 edited without a re-run.</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Never alter evidence or grades. Fix the work, not the number.</a:t>
                      </a:r>
                    </a:p>
                  </a:txBody>
                  <a:tcPr marL="91440" marR="91440" marT="36576" marB="36576" anchor="ctr">
                    <a:lnB w="9525" cap="flat">
                      <a:solidFill>
                        <a:srgbClr val="EAD9DD"/>
                      </a:solidFill>
                    </a:lnB>
                    <a:solidFill>
                      <a:srgbClr val="F9F4F5"/>
                    </a:solidFill>
                  </a:tcPr>
                </a:tc>
              </a:tr>
            </a:tbl>
          </a:graphicData>
        </a:graphic>
      </p:graphicFrame>
      <p:sp>
        <p:nvSpPr>
          <p:cNvPr id="7" name="Rounded Rectangle 6"/>
          <p:cNvSpPr/>
          <p:nvPr/>
        </p:nvSpPr>
        <p:spPr>
          <a:xfrm>
            <a:off x="566928" y="5468112"/>
            <a:ext cx="11064240" cy="676656"/>
          </a:xfrm>
          <a:prstGeom prst="roundRect">
            <a:avLst/>
          </a:prstGeom>
          <a:solidFill>
            <a:srgbClr val="5825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5623560"/>
            <a:ext cx="10424160" cy="402336"/>
          </a:xfrm>
          <a:prstGeom prst="rect">
            <a:avLst/>
          </a:prstGeom>
          <a:noFill/>
        </p:spPr>
        <p:txBody>
          <a:bodyPr wrap="square" anchor="ctr" lIns="0" rIns="0" tIns="0" bIns="0">
            <a:spAutoFit/>
          </a:bodyPr>
          <a:lstStyle/>
          <a:p>
            <a:pPr algn="l">
              <a:lnSpc>
                <a:spcPct val="103000"/>
              </a:lnSpc>
              <a:spcBef>
                <a:spcPts val="0"/>
              </a:spcBef>
              <a:spcAft>
                <a:spcPts val="300"/>
              </a:spcAft>
            </a:pPr>
            <a:r>
              <a:rPr sz="1250" b="1" i="0">
                <a:solidFill>
                  <a:srgbClr val="C9A227"/>
                </a:solidFill>
                <a:latin typeface="Calibri"/>
              </a:rPr>
              <a:t>Integrity failures are not reworkable:  </a:t>
            </a:r>
            <a:r>
              <a:rPr sz="1250" b="0" i="0">
                <a:solidFill>
                  <a:srgbClr val="FFFFFF"/>
                </a:solidFill>
                <a:latin typeface="Calibri"/>
              </a:rPr>
              <a:t>a fabricated value, a flipped grade or an edited Turn 1 with no re-run goes on the disable list.</a:t>
            </a:r>
          </a:p>
        </p:txBody>
      </p:sp>
      <p:sp>
        <p:nvSpPr>
          <p:cNvPr id="9" name="TextBox 8"/>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6B606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A26769"/>
                </a:solidFill>
                <a:latin typeface="Calibri"/>
              </a:rPr>
              <a:t>SECTION 6 · SUBMISSION &amp; PROCESS</a:t>
            </a:r>
          </a:p>
        </p:txBody>
      </p:sp>
      <p:sp>
        <p:nvSpPr>
          <p:cNvPr id="4" name="TextBox 3"/>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6D2E46"/>
                </a:solidFill>
                <a:latin typeface="Cambria"/>
              </a:rPr>
              <a:t>Preserve the evidence, use Share links, act on feedback</a:t>
            </a:r>
          </a:p>
        </p:txBody>
      </p:sp>
      <p:sp>
        <p:nvSpPr>
          <p:cNvPr id="5" name="TextBox 4"/>
          <p:cNvSpPr txBox="1"/>
          <p:nvPr/>
        </p:nvSpPr>
        <p:spPr>
          <a:xfrm>
            <a:off x="566928" y="1426464"/>
            <a:ext cx="110642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i="0">
                <a:solidFill>
                  <a:srgbClr val="6B6064"/>
                </a:solidFill>
                <a:latin typeface="Calibri"/>
              </a:rPr>
              <a:t>The work is only graded if a reviewer can open and verify it. These four mistakes void an otherwise good task.</a:t>
            </a:r>
          </a:p>
        </p:txBody>
      </p:sp>
      <p:graphicFrame>
        <p:nvGraphicFramePr>
          <p:cNvPr id="6" name="Table 5"/>
          <p:cNvGraphicFramePr>
            <a:graphicFrameLocks noGrp="1"/>
          </p:cNvGraphicFramePr>
          <p:nvPr/>
        </p:nvGraphicFramePr>
        <p:xfrm>
          <a:off x="566928" y="1920240"/>
          <a:ext cx="11064240" cy="3108960"/>
        </p:xfrm>
        <a:graphic>
          <a:graphicData uri="http://schemas.openxmlformats.org/drawingml/2006/table">
            <a:tbl>
              <a:tblPr>
                <a:tableStyleId>{2D5ABB26-0587-4C30-8999-92F81FD0307C}</a:tableStyleId>
              </a:tblPr>
              <a:tblGrid>
                <a:gridCol w="2743200"/>
                <a:gridCol w="4114800"/>
                <a:gridCol w="4206240"/>
              </a:tblGrid>
              <a:tr h="402336">
                <a:tc>
                  <a:txBody>
                    <a:bodyPr wrap="square"/>
                    <a:lstStyle/>
                    <a:p>
                      <a:pPr algn="l">
                        <a:lnSpc>
                          <a:spcPct val="100000"/>
                        </a:lnSpc>
                        <a:spcBef>
                          <a:spcPts val="0"/>
                        </a:spcBef>
                        <a:spcAft>
                          <a:spcPts val="100"/>
                        </a:spcAft>
                      </a:pPr>
                      <a:r>
                        <a:rPr sz="1050" b="1" i="0">
                          <a:solidFill>
                            <a:srgbClr val="FFFFFF"/>
                          </a:solidFill>
                          <a:latin typeface="Cambria"/>
                        </a:rPr>
                        <a:t>Error</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Why it fails</a:t>
                      </a:r>
                    </a:p>
                  </a:txBody>
                  <a:tcPr marL="91440" marR="91440" marT="36576" marB="36576" anchor="ctr">
                    <a:lnB w="9525" cap="flat">
                      <a:solidFill>
                        <a:srgbClr val="6D2E46"/>
                      </a:solidFill>
                    </a:lnB>
                    <a:solidFill>
                      <a:srgbClr val="6D2E46"/>
                    </a:solidFill>
                  </a:tcPr>
                </a:tc>
                <a:tc>
                  <a:txBody>
                    <a:bodyPr wrap="square"/>
                    <a:lstStyle/>
                    <a:p>
                      <a:pPr algn="l">
                        <a:lnSpc>
                          <a:spcPct val="100000"/>
                        </a:lnSpc>
                        <a:spcBef>
                          <a:spcPts val="0"/>
                        </a:spcBef>
                        <a:spcAft>
                          <a:spcPts val="100"/>
                        </a:spcAft>
                      </a:pPr>
                      <a:r>
                        <a:rPr sz="1050" b="1" i="0">
                          <a:solidFill>
                            <a:srgbClr val="FFFFFF"/>
                          </a:solidFill>
                          <a:latin typeface="Cambria"/>
                        </a:rPr>
                        <a:t>Fix</a:t>
                      </a:r>
                    </a:p>
                  </a:txBody>
                  <a:tcPr marL="91440" marR="91440" marT="36576" marB="36576" anchor="ctr">
                    <a:lnB w="9525" cap="flat">
                      <a:solidFill>
                        <a:srgbClr val="6D2E46"/>
                      </a:solidFill>
                    </a:lnB>
                    <a:solidFill>
                      <a:srgbClr val="6D2E46"/>
                    </a:solidFill>
                  </a:tcPr>
                </a:tc>
              </a:tr>
              <a:tr h="676656">
                <a:tc>
                  <a:txBody>
                    <a:bodyPr wrap="square"/>
                    <a:lstStyle/>
                    <a:p>
                      <a:pPr algn="l">
                        <a:lnSpc>
                          <a:spcPct val="100000"/>
                        </a:lnSpc>
                        <a:spcBef>
                          <a:spcPts val="0"/>
                        </a:spcBef>
                        <a:spcAft>
                          <a:spcPts val="100"/>
                        </a:spcAft>
                      </a:pPr>
                      <a:r>
                        <a:rPr sz="1019" b="1" i="0">
                          <a:solidFill>
                            <a:srgbClr val="6D2E46"/>
                          </a:solidFill>
                          <a:latin typeface="Calibri"/>
                        </a:rPr>
                        <a:t>Outputs not preserved</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Files the model names aren't uploaded, or an uploaded document is empty apart from its title.</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Upload every file the reply names, with its full content.</a:t>
                      </a:r>
                    </a:p>
                  </a:txBody>
                  <a:tcPr marL="91440" marR="91440" marT="36576" marB="36576" anchor="ctr">
                    <a:lnB w="9525" cap="flat">
                      <a:solidFill>
                        <a:srgbClr val="EAD9DD"/>
                      </a:solidFill>
                    </a:lnB>
                    <a:solidFill>
                      <a:srgbClr val="FFFFFF"/>
                    </a:solidFill>
                  </a:tcPr>
                </a:tc>
              </a:tr>
              <a:tr h="676656">
                <a:tc>
                  <a:txBody>
                    <a:bodyPr wrap="square"/>
                    <a:lstStyle/>
                    <a:p>
                      <a:pPr algn="l">
                        <a:lnSpc>
                          <a:spcPct val="100000"/>
                        </a:lnSpc>
                        <a:spcBef>
                          <a:spcPts val="0"/>
                        </a:spcBef>
                        <a:spcAft>
                          <a:spcPts val="100"/>
                        </a:spcAft>
                      </a:pPr>
                      <a:r>
                        <a:rPr sz="1019" b="1" i="0">
                          <a:solidFill>
                            <a:srgbClr val="6D2E46"/>
                          </a:solidFill>
                          <a:latin typeface="Calibri"/>
                        </a:rPr>
                        <a:t>Browser address-bar link</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Private to your session; reviewers cannot open it.</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Always use the product's Share feature, and save a link after every turn.</a:t>
                      </a:r>
                    </a:p>
                  </a:txBody>
                  <a:tcPr marL="91440" marR="91440" marT="36576" marB="36576" anchor="ctr">
                    <a:lnB w="9525" cap="flat">
                      <a:solidFill>
                        <a:srgbClr val="EAD9DD"/>
                      </a:solidFill>
                    </a:lnB>
                    <a:solidFill>
                      <a:srgbClr val="F9F4F5"/>
                    </a:solidFill>
                  </a:tcPr>
                </a:tc>
              </a:tr>
              <a:tr h="676656">
                <a:tc>
                  <a:txBody>
                    <a:bodyPr wrap="square"/>
                    <a:lstStyle/>
                    <a:p>
                      <a:pPr algn="l">
                        <a:lnSpc>
                          <a:spcPct val="100000"/>
                        </a:lnSpc>
                        <a:spcBef>
                          <a:spcPts val="0"/>
                        </a:spcBef>
                        <a:spcAft>
                          <a:spcPts val="100"/>
                        </a:spcAft>
                      </a:pPr>
                      <a:r>
                        <a:rPr sz="1019" b="1" i="0">
                          <a:solidFill>
                            <a:srgbClr val="6D2E46"/>
                          </a:solidFill>
                          <a:latin typeface="Calibri"/>
                        </a:rPr>
                        <a:t>Deleting a chat</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6B6064"/>
                          </a:solidFill>
                          <a:latin typeface="Calibri"/>
                        </a:rPr>
                        <a:t>Kills every share link and fails the task.</a:t>
                      </a:r>
                    </a:p>
                  </a:txBody>
                  <a:tcPr marL="91440" marR="91440" marT="36576" marB="36576" anchor="ctr">
                    <a:lnB w="9525" cap="flat">
                      <a:solidFill>
                        <a:srgbClr val="EAD9DD"/>
                      </a:solidFill>
                    </a:lnB>
                    <a:solidFill>
                      <a:srgbClr val="FFFFFF"/>
                    </a:solidFill>
                  </a:tcPr>
                </a:tc>
                <a:tc>
                  <a:txBody>
                    <a:bodyPr wrap="square"/>
                    <a:lstStyle/>
                    <a:p>
                      <a:pPr algn="l">
                        <a:lnSpc>
                          <a:spcPct val="100000"/>
                        </a:lnSpc>
                        <a:spcBef>
                          <a:spcPts val="0"/>
                        </a:spcBef>
                        <a:spcAft>
                          <a:spcPts val="100"/>
                        </a:spcAft>
                      </a:pPr>
                      <a:r>
                        <a:rPr sz="980" b="0" i="0">
                          <a:solidFill>
                            <a:srgbClr val="2B2126"/>
                          </a:solidFill>
                          <a:latin typeface="Calibri"/>
                        </a:rPr>
                        <a:t>Never delete. Start a new chat per task.</a:t>
                      </a:r>
                    </a:p>
                  </a:txBody>
                  <a:tcPr marL="91440" marR="91440" marT="36576" marB="36576" anchor="ctr">
                    <a:lnB w="9525" cap="flat">
                      <a:solidFill>
                        <a:srgbClr val="EAD9DD"/>
                      </a:solidFill>
                    </a:lnB>
                    <a:solidFill>
                      <a:srgbClr val="FFFFFF"/>
                    </a:solidFill>
                  </a:tcPr>
                </a:tc>
              </a:tr>
              <a:tr h="676656">
                <a:tc>
                  <a:txBody>
                    <a:bodyPr wrap="square"/>
                    <a:lstStyle/>
                    <a:p>
                      <a:pPr algn="l">
                        <a:lnSpc>
                          <a:spcPct val="100000"/>
                        </a:lnSpc>
                        <a:spcBef>
                          <a:spcPts val="0"/>
                        </a:spcBef>
                        <a:spcAft>
                          <a:spcPts val="100"/>
                        </a:spcAft>
                      </a:pPr>
                      <a:r>
                        <a:rPr sz="1019" b="1" i="0">
                          <a:solidFill>
                            <a:srgbClr val="6D2E46"/>
                          </a:solidFill>
                          <a:latin typeface="Calibri"/>
                        </a:rPr>
                        <a:t>Resubmit without addressing feedback</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6B6064"/>
                          </a:solidFill>
                          <a:latin typeface="Calibri"/>
                        </a:rPr>
                        <a:t>Only the run or wording changed while the listed fixes stay open, so you get the same send-back.</a:t>
                      </a:r>
                    </a:p>
                  </a:txBody>
                  <a:tcPr marL="91440" marR="91440" marT="36576" marB="36576" anchor="ctr">
                    <a:lnB w="9525" cap="flat">
                      <a:solidFill>
                        <a:srgbClr val="EAD9DD"/>
                      </a:solidFill>
                    </a:lnB>
                    <a:solidFill>
                      <a:srgbClr val="F9F4F5"/>
                    </a:solidFill>
                  </a:tcPr>
                </a:tc>
                <a:tc>
                  <a:txBody>
                    <a:bodyPr wrap="square"/>
                    <a:lstStyle/>
                    <a:p>
                      <a:pPr algn="l">
                        <a:lnSpc>
                          <a:spcPct val="100000"/>
                        </a:lnSpc>
                        <a:spcBef>
                          <a:spcPts val="0"/>
                        </a:spcBef>
                        <a:spcAft>
                          <a:spcPts val="100"/>
                        </a:spcAft>
                      </a:pPr>
                      <a:r>
                        <a:rPr sz="980" b="0" i="0">
                          <a:solidFill>
                            <a:srgbClr val="2B2126"/>
                          </a:solidFill>
                          <a:latin typeface="Calibri"/>
                        </a:rPr>
                        <a:t>Work through the feedback item by item and tick each one off before you resubmit.</a:t>
                      </a:r>
                    </a:p>
                  </a:txBody>
                  <a:tcPr marL="91440" marR="91440" marT="36576" marB="36576" anchor="ctr">
                    <a:lnB w="9525" cap="flat">
                      <a:solidFill>
                        <a:srgbClr val="EAD9DD"/>
                      </a:solidFill>
                    </a:lnB>
                    <a:solidFill>
                      <a:srgbClr val="F9F4F5"/>
                    </a:solidFill>
                  </a:tcPr>
                </a:tc>
              </a:tr>
            </a:tbl>
          </a:graphicData>
        </a:graphic>
      </p:graphicFrame>
      <p:sp>
        <p:nvSpPr>
          <p:cNvPr id="7" name="Rounded Rectangle 6"/>
          <p:cNvSpPr/>
          <p:nvPr/>
        </p:nvSpPr>
        <p:spPr>
          <a:xfrm>
            <a:off x="566928" y="5394960"/>
            <a:ext cx="11064240" cy="566928"/>
          </a:xfrm>
          <a:prstGeom prst="roundRect">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5550408"/>
            <a:ext cx="10424160" cy="292608"/>
          </a:xfrm>
          <a:prstGeom prst="rect">
            <a:avLst/>
          </a:prstGeom>
          <a:noFill/>
        </p:spPr>
        <p:txBody>
          <a:bodyPr wrap="square" anchor="ctr" lIns="0" rIns="0" tIns="0" bIns="0">
            <a:spAutoFit/>
          </a:bodyPr>
          <a:lstStyle/>
          <a:p>
            <a:pPr algn="l">
              <a:lnSpc>
                <a:spcPct val="103000"/>
              </a:lnSpc>
              <a:spcBef>
                <a:spcPts val="0"/>
              </a:spcBef>
              <a:spcAft>
                <a:spcPts val="300"/>
              </a:spcAft>
            </a:pPr>
            <a:r>
              <a:rPr sz="1250" b="1" i="0">
                <a:solidFill>
                  <a:srgbClr val="6D2E46"/>
                </a:solidFill>
                <a:latin typeface="Calibri"/>
              </a:rPr>
              <a:t>Reviewers can't grade what they can't open.  </a:t>
            </a:r>
            <a:r>
              <a:rPr sz="1250" b="0" i="0">
                <a:solidFill>
                  <a:srgbClr val="6D2E46"/>
                </a:solidFill>
                <a:latin typeface="Calibri"/>
              </a:rPr>
              <a:t>A deleted chat, a private URL or a missing upload fails the task no matter how good the rest is.</a:t>
            </a:r>
          </a:p>
        </p:txBody>
      </p:sp>
      <p:sp>
        <p:nvSpPr>
          <p:cNvPr id="9" name="TextBox 8"/>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6B606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27080" y="457200"/>
            <a:ext cx="1188720" cy="118872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750040" y="6263640"/>
            <a:ext cx="868680" cy="86868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11064240" cy="256032"/>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C9A227"/>
                </a:solidFill>
                <a:latin typeface="Calibri"/>
              </a:rPr>
              <a:t>BEFORE YOU SUBMIT</a:t>
            </a:r>
          </a:p>
        </p:txBody>
      </p:sp>
      <p:sp>
        <p:nvSpPr>
          <p:cNvPr id="6" name="TextBox 5"/>
          <p:cNvSpPr txBox="1"/>
          <p:nvPr/>
        </p:nvSpPr>
        <p:spPr>
          <a:xfrm>
            <a:off x="566928" y="658368"/>
            <a:ext cx="11064240" cy="731520"/>
          </a:xfrm>
          <a:prstGeom prst="rect">
            <a:avLst/>
          </a:prstGeom>
          <a:noFill/>
        </p:spPr>
        <p:txBody>
          <a:bodyPr wrap="square" anchor="t" lIns="0" rIns="0" tIns="0" bIns="0">
            <a:spAutoFit/>
          </a:bodyPr>
          <a:lstStyle/>
          <a:p>
            <a:pPr algn="l">
              <a:lnSpc>
                <a:spcPct val="100000"/>
              </a:lnSpc>
              <a:spcBef>
                <a:spcPts val="0"/>
              </a:spcBef>
              <a:spcAft>
                <a:spcPts val="300"/>
              </a:spcAft>
            </a:pPr>
            <a:r>
              <a:rPr sz="3100" b="1" i="0">
                <a:solidFill>
                  <a:srgbClr val="FFFFFF"/>
                </a:solidFill>
                <a:latin typeface="Cambria"/>
              </a:rPr>
              <a:t>Re-read your task as a stranger</a:t>
            </a:r>
          </a:p>
        </p:txBody>
      </p:sp>
      <p:sp>
        <p:nvSpPr>
          <p:cNvPr id="7" name="TextBox 6"/>
          <p:cNvSpPr txBox="1"/>
          <p:nvPr/>
        </p:nvSpPr>
        <p:spPr>
          <a:xfrm>
            <a:off x="566928" y="1481328"/>
            <a:ext cx="11064240" cy="365760"/>
          </a:xfrm>
          <a:prstGeom prst="rect">
            <a:avLst/>
          </a:prstGeom>
          <a:noFill/>
        </p:spPr>
        <p:txBody>
          <a:bodyPr wrap="square" anchor="t" lIns="0" rIns="0" tIns="0" bIns="0">
            <a:spAutoFit/>
          </a:bodyPr>
          <a:lstStyle/>
          <a:p>
            <a:pPr algn="l">
              <a:lnSpc>
                <a:spcPct val="100000"/>
              </a:lnSpc>
              <a:spcBef>
                <a:spcPts val="0"/>
              </a:spcBef>
              <a:spcAft>
                <a:spcPts val="300"/>
              </a:spcAft>
            </a:pPr>
            <a:r>
              <a:rPr sz="1300" b="0" i="0">
                <a:solidFill>
                  <a:srgbClr val="ECE2D0"/>
                </a:solidFill>
                <a:latin typeface="Calibri"/>
              </a:rPr>
              <a:t>No matter how good the rest of the work is, these are the final checks.</a:t>
            </a:r>
          </a:p>
        </p:txBody>
      </p:sp>
      <p:sp>
        <p:nvSpPr>
          <p:cNvPr id="8" name="Rounded Rectangle 7"/>
          <p:cNvSpPr/>
          <p:nvPr/>
        </p:nvSpPr>
        <p:spPr>
          <a:xfrm>
            <a:off x="566928" y="2011680"/>
            <a:ext cx="5394960" cy="2697480"/>
          </a:xfrm>
          <a:prstGeom prst="round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194560"/>
            <a:ext cx="4846320" cy="274320"/>
          </a:xfrm>
          <a:prstGeom prst="rect">
            <a:avLst/>
          </a:prstGeom>
          <a:noFill/>
        </p:spPr>
        <p:txBody>
          <a:bodyPr wrap="square" anchor="t" lIns="0" rIns="0" tIns="0" bIns="0">
            <a:spAutoFit/>
          </a:bodyPr>
          <a:lstStyle/>
          <a:p>
            <a:pPr algn="l">
              <a:lnSpc>
                <a:spcPct val="100000"/>
              </a:lnSpc>
              <a:spcBef>
                <a:spcPts val="0"/>
              </a:spcBef>
              <a:spcAft>
                <a:spcPts val="300"/>
              </a:spcAft>
            </a:pPr>
            <a:r>
              <a:rPr sz="1150" b="1" i="0">
                <a:solidFill>
                  <a:srgbClr val="6D2E46"/>
                </a:solidFill>
                <a:latin typeface="Calibri"/>
              </a:rPr>
              <a:t>THE STRANGER RE-READ</a:t>
            </a:r>
          </a:p>
        </p:txBody>
      </p:sp>
      <p:sp>
        <p:nvSpPr>
          <p:cNvPr id="10" name="TextBox 9"/>
          <p:cNvSpPr txBox="1"/>
          <p:nvPr/>
        </p:nvSpPr>
        <p:spPr>
          <a:xfrm>
            <a:off x="859536" y="2578608"/>
            <a:ext cx="4846320" cy="2011680"/>
          </a:xfrm>
          <a:prstGeom prst="rect">
            <a:avLst/>
          </a:prstGeom>
          <a:noFill/>
        </p:spPr>
        <p:txBody>
          <a:bodyPr wrap="square" anchor="t" lIns="0" rIns="0" tIns="0" bIns="0">
            <a:spAutoFit/>
          </a:bodyPr>
          <a:lstStyle/>
          <a:p>
            <a:pPr algn="l">
              <a:lnSpc>
                <a:spcPct val="110000"/>
              </a:lnSpc>
              <a:spcBef>
                <a:spcPts val="0"/>
              </a:spcBef>
              <a:spcAft>
                <a:spcPts val="900"/>
              </a:spcAft>
            </a:pPr>
            <a:r>
              <a:rPr sz="1250" b="1" i="0">
                <a:solidFill>
                  <a:srgbClr val="A26769"/>
                </a:solidFill>
                <a:latin typeface="Calibri"/>
              </a:rPr>
              <a:t>? </a:t>
            </a:r>
            <a:r>
              <a:rPr sz="1250" b="0" i="0">
                <a:solidFill>
                  <a:srgbClr val="2B2126"/>
                </a:solidFill>
                <a:latin typeface="Calibri"/>
              </a:rPr>
              <a:t>Could a model finish it in one reply?</a:t>
            </a:r>
          </a:p>
          <a:p>
            <a:pPr algn="l">
              <a:lnSpc>
                <a:spcPct val="110000"/>
              </a:lnSpc>
              <a:spcBef>
                <a:spcPts val="0"/>
              </a:spcBef>
              <a:spcAft>
                <a:spcPts val="900"/>
              </a:spcAft>
            </a:pPr>
            <a:r>
              <a:rPr sz="1250" b="1" i="0">
                <a:solidFill>
                  <a:srgbClr val="A26769"/>
                </a:solidFill>
                <a:latin typeface="Calibri"/>
              </a:rPr>
              <a:t>? </a:t>
            </a:r>
            <a:r>
              <a:rPr sz="1250" b="0" i="0">
                <a:solidFill>
                  <a:srgbClr val="2B2126"/>
                </a:solidFill>
                <a:latin typeface="Calibri"/>
              </a:rPr>
              <a:t>Is every name real in Gmail, Drive or Calendar?</a:t>
            </a:r>
          </a:p>
          <a:p>
            <a:pPr algn="l">
              <a:lnSpc>
                <a:spcPct val="110000"/>
              </a:lnSpc>
              <a:spcBef>
                <a:spcPts val="0"/>
              </a:spcBef>
              <a:spcAft>
                <a:spcPts val="900"/>
              </a:spcAft>
            </a:pPr>
            <a:r>
              <a:rPr sz="1250" b="1" i="0">
                <a:solidFill>
                  <a:srgbClr val="A26769"/>
                </a:solidFill>
                <a:latin typeface="Calibri"/>
              </a:rPr>
              <a:t>? </a:t>
            </a:r>
            <a:r>
              <a:rPr sz="1250" b="0" i="0">
                <a:solidFill>
                  <a:srgbClr val="2B2126"/>
                </a:solidFill>
                <a:latin typeface="Calibri"/>
              </a:rPr>
              <a:t>Does each rubric line have one clear pass/fail answer?</a:t>
            </a:r>
          </a:p>
          <a:p>
            <a:pPr algn="l">
              <a:lnSpc>
                <a:spcPct val="110000"/>
              </a:lnSpc>
              <a:spcBef>
                <a:spcPts val="0"/>
              </a:spcBef>
              <a:spcAft>
                <a:spcPts val="900"/>
              </a:spcAft>
            </a:pPr>
            <a:r>
              <a:rPr sz="1250" b="1" i="0">
                <a:solidFill>
                  <a:srgbClr val="A26769"/>
                </a:solidFill>
                <a:latin typeface="Calibri"/>
              </a:rPr>
              <a:t>? </a:t>
            </a:r>
            <a:r>
              <a:rPr sz="1250" b="0" i="0">
                <a:solidFill>
                  <a:srgbClr val="2B2126"/>
                </a:solidFill>
                <a:latin typeface="Calibri"/>
              </a:rPr>
              <a:t>Does anything depend on a draft being sent?</a:t>
            </a:r>
          </a:p>
        </p:txBody>
      </p:sp>
      <p:sp>
        <p:nvSpPr>
          <p:cNvPr id="11" name="Rounded Rectangle 10"/>
          <p:cNvSpPr/>
          <p:nvPr/>
        </p:nvSpPr>
        <p:spPr>
          <a:xfrm>
            <a:off x="6236208" y="2011680"/>
            <a:ext cx="5394960" cy="2697480"/>
          </a:xfrm>
          <a:prstGeom prst="roundRect">
            <a:avLst/>
          </a:prstGeom>
          <a:solidFill>
            <a:srgbClr val="5825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194560"/>
            <a:ext cx="4846320" cy="274320"/>
          </a:xfrm>
          <a:prstGeom prst="rect">
            <a:avLst/>
          </a:prstGeom>
          <a:noFill/>
        </p:spPr>
        <p:txBody>
          <a:bodyPr wrap="square" anchor="t" lIns="0" rIns="0" tIns="0" bIns="0">
            <a:spAutoFit/>
          </a:bodyPr>
          <a:lstStyle/>
          <a:p>
            <a:pPr algn="l">
              <a:lnSpc>
                <a:spcPct val="100000"/>
              </a:lnSpc>
              <a:spcBef>
                <a:spcPts val="0"/>
              </a:spcBef>
              <a:spcAft>
                <a:spcPts val="300"/>
              </a:spcAft>
            </a:pPr>
            <a:r>
              <a:rPr sz="1150" b="1" i="0">
                <a:solidFill>
                  <a:srgbClr val="C9A227"/>
                </a:solidFill>
                <a:latin typeface="Calibri"/>
              </a:rPr>
              <a:t>HARD-FAILS TO DOUBLE-CHECK</a:t>
            </a:r>
          </a:p>
        </p:txBody>
      </p:sp>
      <p:sp>
        <p:nvSpPr>
          <p:cNvPr id="13" name="TextBox 12"/>
          <p:cNvSpPr txBox="1"/>
          <p:nvPr/>
        </p:nvSpPr>
        <p:spPr>
          <a:xfrm>
            <a:off x="6528816" y="2578608"/>
            <a:ext cx="4846320" cy="2011680"/>
          </a:xfrm>
          <a:prstGeom prst="rect">
            <a:avLst/>
          </a:prstGeom>
          <a:noFill/>
        </p:spPr>
        <p:txBody>
          <a:bodyPr wrap="square" anchor="t" lIns="0" rIns="0" tIns="0" bIns="0">
            <a:spAutoFit/>
          </a:bodyPr>
          <a:lstStyle/>
          <a:p>
            <a:pPr algn="l">
              <a:lnSpc>
                <a:spcPct val="110000"/>
              </a:lnSpc>
              <a:spcBef>
                <a:spcPts val="0"/>
              </a:spcBef>
              <a:spcAft>
                <a:spcPts val="700"/>
              </a:spcAft>
            </a:pPr>
            <a:r>
              <a:rPr sz="1200" b="1" i="0">
                <a:solidFill>
                  <a:srgbClr val="C9A227"/>
                </a:solidFill>
                <a:latin typeface="Calibri"/>
              </a:rPr>
              <a:t>✕  </a:t>
            </a:r>
            <a:r>
              <a:rPr sz="1200" b="0" i="0">
                <a:solidFill>
                  <a:srgbClr val="FFFFFF"/>
                </a:solidFill>
                <a:latin typeface="Calibri"/>
              </a:rPr>
              <a:t>An ungrounded entity: a file, person or date not in the universe</a:t>
            </a:r>
          </a:p>
          <a:p>
            <a:pPr algn="l">
              <a:lnSpc>
                <a:spcPct val="110000"/>
              </a:lnSpc>
              <a:spcBef>
                <a:spcPts val="0"/>
              </a:spcBef>
              <a:spcAft>
                <a:spcPts val="700"/>
              </a:spcAft>
            </a:pPr>
            <a:r>
              <a:rPr sz="1200" b="1" i="0">
                <a:solidFill>
                  <a:srgbClr val="C9A227"/>
                </a:solidFill>
                <a:latin typeface="Calibri"/>
              </a:rPr>
              <a:t>✕  </a:t>
            </a:r>
            <a:r>
              <a:rPr sz="1200" b="0" i="0">
                <a:solidFill>
                  <a:srgbClr val="FFFFFF"/>
                </a:solidFill>
                <a:latin typeface="Calibri"/>
              </a:rPr>
              <a:t>An LLM-written opening prompt</a:t>
            </a:r>
          </a:p>
          <a:p>
            <a:pPr algn="l">
              <a:lnSpc>
                <a:spcPct val="110000"/>
              </a:lnSpc>
              <a:spcBef>
                <a:spcPts val="0"/>
              </a:spcBef>
              <a:spcAft>
                <a:spcPts val="700"/>
              </a:spcAft>
            </a:pPr>
            <a:r>
              <a:rPr sz="1200" b="1" i="0">
                <a:solidFill>
                  <a:srgbClr val="C9A227"/>
                </a:solidFill>
                <a:latin typeface="Calibri"/>
              </a:rPr>
              <a:t>✕  </a:t>
            </a:r>
            <a:r>
              <a:rPr sz="1200" b="0" i="0">
                <a:solidFill>
                  <a:srgbClr val="FFFFFF"/>
                </a:solidFill>
                <a:latin typeface="Calibri"/>
              </a:rPr>
              <a:t>A deleted chat, or a browser address-bar URL as a link</a:t>
            </a:r>
          </a:p>
          <a:p>
            <a:pPr algn="l">
              <a:lnSpc>
                <a:spcPct val="110000"/>
              </a:lnSpc>
              <a:spcBef>
                <a:spcPts val="0"/>
              </a:spcBef>
              <a:spcAft>
                <a:spcPts val="700"/>
              </a:spcAft>
            </a:pPr>
            <a:r>
              <a:rPr sz="1200" b="1" i="0">
                <a:solidFill>
                  <a:srgbClr val="C9A227"/>
                </a:solidFill>
                <a:latin typeface="Calibri"/>
              </a:rPr>
              <a:t>✕  </a:t>
            </a:r>
            <a:r>
              <a:rPr sz="1200" b="0" i="0">
                <a:solidFill>
                  <a:srgbClr val="FFFFFF"/>
                </a:solidFill>
                <a:latin typeface="Calibri"/>
              </a:rPr>
              <a:t>A named file claimed in the reply with no matching upload</a:t>
            </a:r>
          </a:p>
          <a:p>
            <a:pPr algn="l">
              <a:lnSpc>
                <a:spcPct val="110000"/>
              </a:lnSpc>
              <a:spcBef>
                <a:spcPts val="0"/>
              </a:spcBef>
              <a:spcAft>
                <a:spcPts val="700"/>
              </a:spcAft>
            </a:pPr>
            <a:r>
              <a:rPr sz="1200" b="1" i="0">
                <a:solidFill>
                  <a:srgbClr val="C9A227"/>
                </a:solidFill>
                <a:latin typeface="Calibri"/>
              </a:rPr>
              <a:t>✕  </a:t>
            </a:r>
            <a:r>
              <a:rPr sz="1200" b="0" i="0">
                <a:solidFill>
                  <a:srgbClr val="FFFFFF"/>
                </a:solidFill>
                <a:latin typeface="Calibri"/>
              </a:rPr>
              <a:t>A PDF that contradicts the live share page</a:t>
            </a:r>
          </a:p>
        </p:txBody>
      </p:sp>
      <p:sp>
        <p:nvSpPr>
          <p:cNvPr id="14" name="Rounded Rectangle 13"/>
          <p:cNvSpPr/>
          <p:nvPr/>
        </p:nvSpPr>
        <p:spPr>
          <a:xfrm>
            <a:off x="566928" y="4937760"/>
            <a:ext cx="11064240" cy="1097280"/>
          </a:xfrm>
          <a:prstGeom prst="round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5120640"/>
            <a:ext cx="10424160" cy="274320"/>
          </a:xfrm>
          <a:prstGeom prst="rect">
            <a:avLst/>
          </a:prstGeom>
          <a:noFill/>
        </p:spPr>
        <p:txBody>
          <a:bodyPr wrap="square" anchor="t" lIns="0" rIns="0" tIns="0" bIns="0">
            <a:spAutoFit/>
          </a:bodyPr>
          <a:lstStyle/>
          <a:p>
            <a:pPr algn="l">
              <a:lnSpc>
                <a:spcPct val="100000"/>
              </a:lnSpc>
              <a:spcBef>
                <a:spcPts val="0"/>
              </a:spcBef>
              <a:spcAft>
                <a:spcPts val="300"/>
              </a:spcAft>
            </a:pPr>
            <a:r>
              <a:rPr sz="1100" b="1" i="0">
                <a:solidFill>
                  <a:srgbClr val="6D2E46"/>
                </a:solidFill>
                <a:latin typeface="Calibri"/>
              </a:rPr>
              <a:t>NEED HELP?</a:t>
            </a:r>
          </a:p>
        </p:txBody>
      </p:sp>
      <p:sp>
        <p:nvSpPr>
          <p:cNvPr id="16" name="TextBox 15"/>
          <p:cNvSpPr txBox="1"/>
          <p:nvPr/>
        </p:nvSpPr>
        <p:spPr>
          <a:xfrm>
            <a:off x="886968" y="5440680"/>
            <a:ext cx="10424160" cy="502920"/>
          </a:xfrm>
          <a:prstGeom prst="rect">
            <a:avLst/>
          </a:prstGeom>
          <a:noFill/>
        </p:spPr>
        <p:txBody>
          <a:bodyPr wrap="square" anchor="t" lIns="0" rIns="0" tIns="0" bIns="0">
            <a:spAutoFit/>
          </a:bodyPr>
          <a:lstStyle/>
          <a:p>
            <a:pPr algn="l">
              <a:lnSpc>
                <a:spcPct val="105000"/>
              </a:lnSpc>
              <a:spcBef>
                <a:spcPts val="0"/>
              </a:spcBef>
              <a:spcAft>
                <a:spcPts val="300"/>
              </a:spcAft>
            </a:pPr>
            <a:r>
              <a:rPr sz="1250" b="0" i="0">
                <a:solidFill>
                  <a:srgbClr val="2B2126"/>
                </a:solidFill>
                <a:latin typeface="Calibri"/>
              </a:rPr>
              <a:t>Read the full guidelines at app.outlier.ai (project guidelines), and join the War Room from your dashboard before you run: a wrong account, model or universe cannot be salvaged once a run has started.</a:t>
            </a:r>
          </a:p>
        </p:txBody>
      </p:sp>
      <p:sp>
        <p:nvSpPr>
          <p:cNvPr id="17" name="TextBox 16"/>
          <p:cNvSpPr txBox="1"/>
          <p:nvPr/>
        </p:nvSpPr>
        <p:spPr>
          <a:xfrm>
            <a:off x="566928" y="6272784"/>
            <a:ext cx="11064240" cy="274320"/>
          </a:xfrm>
          <a:prstGeom prst="rect">
            <a:avLst/>
          </a:prstGeom>
          <a:noFill/>
        </p:spPr>
        <p:txBody>
          <a:bodyPr wrap="square" anchor="t" lIns="0" rIns="0" tIns="0" bIns="0">
            <a:spAutoFit/>
          </a:bodyPr>
          <a:lstStyle/>
          <a:p>
            <a:pPr algn="l">
              <a:lnSpc>
                <a:spcPct val="100000"/>
              </a:lnSpc>
              <a:spcBef>
                <a:spcPts val="0"/>
              </a:spcBef>
              <a:spcAft>
                <a:spcPts val="300"/>
              </a:spcAft>
            </a:pPr>
            <a:r>
              <a:rPr sz="1000" b="0" i="0">
                <a:solidFill>
                  <a:srgbClr val="ECE2D0"/>
                </a:solidFill>
                <a:latin typeface="Calibri"/>
              </a:rPr>
              <a:t>Account Hydration  ·  Nectarbloom Prompt and Rubrics  ·  Nectarbloom SxS  ·  Writing Rubrics</a:t>
            </a:r>
          </a:p>
        </p:txBody>
      </p:sp>
      <p:sp>
        <p:nvSpPr>
          <p:cNvPr id="18" name="TextBox 17"/>
          <p:cNvSpPr txBox="1"/>
          <p:nvPr/>
        </p:nvSpPr>
        <p:spPr>
          <a:xfrm>
            <a:off x="10725912" y="6473952"/>
            <a:ext cx="914400" cy="274320"/>
          </a:xfrm>
          <a:prstGeom prst="rect">
            <a:avLst/>
          </a:prstGeom>
          <a:noFill/>
        </p:spPr>
        <p:txBody>
          <a:bodyPr wrap="square" anchor="t" lIns="0" rIns="0" tIns="0" bIns="0">
            <a:spAutoFit/>
          </a:bodyPr>
          <a:lstStyle/>
          <a:p>
            <a:pPr algn="r">
              <a:lnSpc>
                <a:spcPct val="100000"/>
              </a:lnSpc>
              <a:spcBef>
                <a:spcPts val="0"/>
              </a:spcBef>
              <a:spcAft>
                <a:spcPts val="300"/>
              </a:spcAft>
            </a:pPr>
            <a:r>
              <a:rPr sz="950" b="0" i="0">
                <a:solidFill>
                  <a:srgbClr val="ECE2D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640080"/>
            <a:ext cx="1371600" cy="137160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38560" y="2286000"/>
            <a:ext cx="822960" cy="82296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92640" y="5120640"/>
            <a:ext cx="1097280" cy="109728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011680"/>
            <a:ext cx="9144000" cy="274320"/>
          </a:xfrm>
          <a:prstGeom prst="rect">
            <a:avLst/>
          </a:prstGeom>
          <a:noFill/>
        </p:spPr>
        <p:txBody>
          <a:bodyPr wrap="square" anchor="t" lIns="0" rIns="0" tIns="0" bIns="0">
            <a:spAutoFit/>
          </a:bodyPr>
          <a:lstStyle/>
          <a:p>
            <a:pPr algn="l">
              <a:lnSpc>
                <a:spcPct val="100000"/>
              </a:lnSpc>
              <a:spcBef>
                <a:spcPts val="0"/>
              </a:spcBef>
              <a:spcAft>
                <a:spcPts val="300"/>
              </a:spcAft>
            </a:pPr>
            <a:r>
              <a:rPr sz="1300" b="1" i="0">
                <a:solidFill>
                  <a:srgbClr val="C9A227"/>
                </a:solidFill>
                <a:latin typeface="Calibri"/>
              </a:rPr>
              <a:t>NECTARBLOOM · PROMPT AND RUBRICS (QUEUE 1)</a:t>
            </a:r>
          </a:p>
        </p:txBody>
      </p:sp>
      <p:sp>
        <p:nvSpPr>
          <p:cNvPr id="7" name="TextBox 6"/>
          <p:cNvSpPr txBox="1"/>
          <p:nvPr/>
        </p:nvSpPr>
        <p:spPr>
          <a:xfrm>
            <a:off x="566928" y="2450592"/>
            <a:ext cx="10515600" cy="1371600"/>
          </a:xfrm>
          <a:prstGeom prst="rect">
            <a:avLst/>
          </a:prstGeom>
          <a:noFill/>
        </p:spPr>
        <p:txBody>
          <a:bodyPr wrap="square" anchor="t" lIns="0" rIns="0" tIns="0" bIns="0">
            <a:spAutoFit/>
          </a:bodyPr>
          <a:lstStyle/>
          <a:p>
            <a:pPr algn="l">
              <a:lnSpc>
                <a:spcPct val="100000"/>
              </a:lnSpc>
              <a:spcBef>
                <a:spcPts val="0"/>
              </a:spcBef>
              <a:spcAft>
                <a:spcPts val="300"/>
              </a:spcAft>
            </a:pPr>
            <a:r>
              <a:rPr sz="6000" b="1" i="0">
                <a:solidFill>
                  <a:srgbClr val="FFFFFF"/>
                </a:solidFill>
                <a:latin typeface="Cambria"/>
              </a:rPr>
              <a:t>Thank you</a:t>
            </a:r>
          </a:p>
        </p:txBody>
      </p:sp>
      <p:sp>
        <p:nvSpPr>
          <p:cNvPr id="8" name="TextBox 7"/>
          <p:cNvSpPr txBox="1"/>
          <p:nvPr/>
        </p:nvSpPr>
        <p:spPr>
          <a:xfrm>
            <a:off x="566928" y="3767328"/>
            <a:ext cx="10424160" cy="822960"/>
          </a:xfrm>
          <a:prstGeom prst="rect">
            <a:avLst/>
          </a:prstGeom>
          <a:noFill/>
        </p:spPr>
        <p:txBody>
          <a:bodyPr wrap="square" anchor="t" lIns="0" rIns="0" tIns="0" bIns="0">
            <a:spAutoFit/>
          </a:bodyPr>
          <a:lstStyle/>
          <a:p>
            <a:pPr algn="l">
              <a:lnSpc>
                <a:spcPct val="100000"/>
              </a:lnSpc>
              <a:spcBef>
                <a:spcPts val="0"/>
              </a:spcBef>
              <a:spcAft>
                <a:spcPts val="300"/>
              </a:spcAft>
            </a:pPr>
            <a:r>
              <a:rPr sz="1900" b="0" i="0">
                <a:solidFill>
                  <a:srgbClr val="ECE2D0"/>
                </a:solidFill>
                <a:latin typeface="Cambria"/>
              </a:rPr>
              <a:t>Ground every entity, write lines two people would grade the same way, and never change the evidence.</a:t>
            </a:r>
          </a:p>
        </p:txBody>
      </p:sp>
      <p:sp>
        <p:nvSpPr>
          <p:cNvPr id="9" name="Rectangle 8"/>
          <p:cNvSpPr/>
          <p:nvPr/>
        </p:nvSpPr>
        <p:spPr>
          <a:xfrm>
            <a:off x="566928" y="4709160"/>
            <a:ext cx="100584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983480"/>
            <a:ext cx="10424160" cy="457200"/>
          </a:xfrm>
          <a:prstGeom prst="rect">
            <a:avLst/>
          </a:prstGeom>
          <a:noFill/>
        </p:spPr>
        <p:txBody>
          <a:bodyPr wrap="square" anchor="t" lIns="0" rIns="0" tIns="0" bIns="0">
            <a:spAutoFit/>
          </a:bodyPr>
          <a:lstStyle/>
          <a:p>
            <a:pPr algn="l">
              <a:lnSpc>
                <a:spcPct val="100000"/>
              </a:lnSpc>
              <a:spcBef>
                <a:spcPts val="0"/>
              </a:spcBef>
              <a:spcAft>
                <a:spcPts val="300"/>
              </a:spcAft>
            </a:pPr>
            <a:r>
              <a:rPr sz="1400" b="1" i="0">
                <a:solidFill>
                  <a:srgbClr val="ECE2D0"/>
                </a:solidFill>
                <a:latin typeface="Calibri"/>
              </a:rPr>
              <a:t>Questions? Bring them to the War Room, before you run rather than after.</a:t>
            </a:r>
          </a:p>
        </p:txBody>
      </p:sp>
      <p:sp>
        <p:nvSpPr>
          <p:cNvPr id="11" name="TextBox 10"/>
          <p:cNvSpPr txBox="1"/>
          <p:nvPr/>
        </p:nvSpPr>
        <p:spPr>
          <a:xfrm>
            <a:off x="566928" y="6272784"/>
            <a:ext cx="11064240" cy="274320"/>
          </a:xfrm>
          <a:prstGeom prst="rect">
            <a:avLst/>
          </a:prstGeom>
          <a:noFill/>
        </p:spPr>
        <p:txBody>
          <a:bodyPr wrap="square" anchor="t" lIns="0" rIns="0" tIns="0" bIns="0">
            <a:spAutoFit/>
          </a:bodyPr>
          <a:lstStyle/>
          <a:p>
            <a:pPr algn="l">
              <a:lnSpc>
                <a:spcPct val="100000"/>
              </a:lnSpc>
              <a:spcBef>
                <a:spcPts val="0"/>
              </a:spcBef>
              <a:spcAft>
                <a:spcPts val="300"/>
              </a:spcAft>
            </a:pPr>
            <a:r>
              <a:rPr sz="1000" b="0" i="0">
                <a:solidFill>
                  <a:srgbClr val="ECE2D0"/>
                </a:solidFill>
                <a:latin typeface="Calibri"/>
              </a:rPr>
              <a:t>Account Hydration  ·  Nectarbloom Prompt and Rubrics  ·  Nectarbloom SxS  ·  Writing Rubrics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